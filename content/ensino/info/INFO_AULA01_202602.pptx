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65" r:id="rId2"/>
    <p:sldId id="472" r:id="rId3"/>
    <p:sldId id="511" r:id="rId4"/>
    <p:sldId id="512" r:id="rId5"/>
    <p:sldId id="523" r:id="rId6"/>
    <p:sldId id="524" r:id="rId7"/>
    <p:sldId id="474" r:id="rId8"/>
    <p:sldId id="514" r:id="rId9"/>
    <p:sldId id="516" r:id="rId10"/>
    <p:sldId id="526" r:id="rId11"/>
    <p:sldId id="525" r:id="rId12"/>
    <p:sldId id="528" r:id="rId13"/>
    <p:sldId id="529" r:id="rId14"/>
    <p:sldId id="527" r:id="rId15"/>
    <p:sldId id="532" r:id="rId16"/>
    <p:sldId id="533" r:id="rId17"/>
    <p:sldId id="534" r:id="rId18"/>
    <p:sldId id="535" r:id="rId19"/>
    <p:sldId id="536" r:id="rId20"/>
    <p:sldId id="530" r:id="rId21"/>
    <p:sldId id="509" r:id="rId22"/>
    <p:sldId id="510" r:id="rId23"/>
    <p:sldId id="490" r:id="rId24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506"/>
    <a:srgbClr val="FECD04"/>
    <a:srgbClr val="0579CC"/>
    <a:srgbClr val="286270"/>
    <a:srgbClr val="436B39"/>
    <a:srgbClr val="365422"/>
    <a:srgbClr val="33A9AF"/>
    <a:srgbClr val="C25252"/>
    <a:srgbClr val="DDD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74697" autoAdjust="0"/>
  </p:normalViewPr>
  <p:slideViewPr>
    <p:cSldViewPr snapToGrid="0">
      <p:cViewPr varScale="1">
        <p:scale>
          <a:sx n="42" d="100"/>
          <a:sy n="42" d="100"/>
        </p:scale>
        <p:origin x="1680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3" d="100"/>
        <a:sy n="6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51A69-C562-4FC5-92DC-994CDC1376A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47B73-6B03-4EF3-AD40-683CE00DAB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7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06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94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78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71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418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53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8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19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8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8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04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84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62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570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85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404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57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5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50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11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47B73-6B03-4EF3-AD40-683CE00DABF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6380-6DBF-4464-B2A0-EA4E16AF1230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5D645-1D6E-4748-85E7-AA86930AD6F2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C3AE0-CF36-4BFF-8847-7261FCF7DF7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3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76D1A-AB8F-47C5-B604-82C180DE3C8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E552-848D-4E05-B27F-638ACFC623FC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79873-6FEC-4C6C-96D5-835CE018A4CB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0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27EA-DD75-4FD5-9BFE-C3AFC528638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8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0963-8C0B-4519-9488-E199E9C38311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0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84DB-5E18-46A4-AB23-2A4AC029A6A0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BC0C0-0377-4135-95C1-00A3C585371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B591-168D-4DF4-8225-504AA9320E8F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1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80705-EF5D-4FBD-988E-17143DF3ECC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Prof. MSc Fernando Chagas | Arquitetura de Computadores | Aula 02 – Sistemas de Numeração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75539-BFBE-477A-BDB6-9CA7B44D81A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4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D75C6ED-B3AD-460E-AC55-DC15C10096AE}"/>
              </a:ext>
            </a:extLst>
          </p:cNvPr>
          <p:cNvSpPr/>
          <p:nvPr/>
        </p:nvSpPr>
        <p:spPr>
          <a:xfrm>
            <a:off x="-22412" y="130715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286500"/>
            <a:ext cx="24384000" cy="27268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087" y="6572717"/>
            <a:ext cx="1040753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spc="100" dirty="0">
                <a:solidFill>
                  <a:schemeClr val="bg1"/>
                </a:solidFill>
                <a:latin typeface="Futura Bk BT" panose="020B05020202040203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Disciplina</a:t>
            </a:r>
          </a:p>
          <a:p>
            <a:pPr algn="ctr"/>
            <a:r>
              <a:rPr lang="pt-BR" sz="6000" dirty="0">
                <a:solidFill>
                  <a:schemeClr val="bg1"/>
                </a:solidFill>
                <a:latin typeface="Futura Bk BT" panose="020B0502020204020303" pitchFamily="34" charset="0"/>
              </a:rPr>
              <a:t>Informática Aplicada </a:t>
            </a:r>
            <a:endParaRPr lang="en-US" sz="6000" spc="100" dirty="0">
              <a:solidFill>
                <a:schemeClr val="bg1"/>
              </a:solidFill>
              <a:latin typeface="Futura Bk BT" panose="020B05020202040203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44127" y="7346155"/>
            <a:ext cx="9376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spc="100" dirty="0">
                <a:solidFill>
                  <a:schemeClr val="bg1"/>
                </a:solidFill>
                <a:latin typeface="Futura Bk BT" panose="020B05020202040203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PROF. FERNANDO TAMBERLINI ALVES</a:t>
            </a:r>
            <a:endParaRPr lang="en-US" sz="3200" spc="100" dirty="0">
              <a:solidFill>
                <a:schemeClr val="bg1"/>
              </a:solidFill>
              <a:latin typeface="Futura Bk BT" panose="020B05020202040203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1939874" y="6851907"/>
            <a:ext cx="0" cy="1573273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2D10B37-ACD7-4888-9ED3-D7384BEC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7A66AC-7374-48AE-A3F6-28707B1C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1030" name="Picture 6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9E7B9563-E03B-495D-AB96-9B3EBBDB1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734" y="581235"/>
            <a:ext cx="14770279" cy="424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28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Objetivo Geral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7DF21E7-64FC-57E0-6C7A-77EE4FD8FFAE}"/>
              </a:ext>
            </a:extLst>
          </p:cNvPr>
          <p:cNvSpPr txBox="1"/>
          <p:nvPr/>
        </p:nvSpPr>
        <p:spPr>
          <a:xfrm>
            <a:off x="2400300" y="8394024"/>
            <a:ext cx="190881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Desenvolver junto ao educando a compreensão do histórico evolutivo da Informática e sua aplicabilidade dentro do mundo corporativo, fornecendo subsídios para o conhecimento e a utilização das principais ferramentas da internet</a:t>
            </a:r>
            <a:r>
              <a:rPr lang="pt-BR" sz="44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A5AF65-A5A8-53BB-52F7-71D55AB0E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652" y="2551444"/>
            <a:ext cx="5534413" cy="55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4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Objetivos Específicos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7DF21E7-64FC-57E0-6C7A-77EE4FD8FFAE}"/>
              </a:ext>
            </a:extLst>
          </p:cNvPr>
          <p:cNvSpPr txBox="1"/>
          <p:nvPr/>
        </p:nvSpPr>
        <p:spPr>
          <a:xfrm>
            <a:off x="1714500" y="3369655"/>
            <a:ext cx="20021550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Identificar os elementos que compõem um sistema computacional e suas principais características.</a:t>
            </a:r>
          </a:p>
          <a:p>
            <a:pPr marL="857250" indent="-85725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Entender os conceitos de hardware e software e suas funções dentro de um ambiente corporativo.</a:t>
            </a:r>
          </a:p>
          <a:p>
            <a:pPr marL="857250" indent="-85725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Conhecer aplicativos utilizados nas atividades rotineiras das empresas.</a:t>
            </a:r>
          </a:p>
          <a:p>
            <a:pPr marL="857250" indent="-85725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Utilizar os recursos da internet como ferramentas estratégicas para o bom funcionamento da empresa.</a:t>
            </a:r>
          </a:p>
          <a:p>
            <a:pPr marL="857250" indent="-85725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Trabalhar com os editores de texto, Planilhas Eletrônicas e Apresentações Eletrônicas.</a:t>
            </a:r>
          </a:p>
          <a:p>
            <a:pPr marL="857250" indent="-857250" algn="just">
              <a:buFont typeface="Wingdings" panose="05000000000000000000" pitchFamily="2" charset="2"/>
              <a:buChar char="§"/>
            </a:pPr>
            <a:endParaRPr lang="pt-BR" sz="4000" dirty="0">
              <a:latin typeface="Futura Bk BT" panose="020B0502020204020303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57250" indent="-857250" algn="just">
              <a:buFont typeface="Wingdings" panose="05000000000000000000" pitchFamily="2" charset="2"/>
              <a:buChar char="§"/>
            </a:pPr>
            <a:r>
              <a:rPr lang="pt-BR" sz="4000" dirty="0">
                <a:latin typeface="Futura Bk BT" panose="020B0502020204020303"/>
                <a:ea typeface="Tahoma" panose="020B0604030504040204" pitchFamily="34" charset="0"/>
                <a:cs typeface="Tahoma" panose="020B0604030504040204" pitchFamily="34" charset="0"/>
              </a:rPr>
              <a:t>Entender e fazer uso de boas práticas de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5118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Planejamento do Curso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7DF21E7-64FC-57E0-6C7A-77EE4FD8FFAE}"/>
              </a:ext>
            </a:extLst>
          </p:cNvPr>
          <p:cNvSpPr txBox="1"/>
          <p:nvPr/>
        </p:nvSpPr>
        <p:spPr>
          <a:xfrm>
            <a:off x="880206" y="3317442"/>
            <a:ext cx="22463759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Futura Bk BT" panose="020B0502020204020303"/>
              </a:rPr>
              <a:t>Unidade I – Conceptualização da Informática</a:t>
            </a:r>
          </a:p>
          <a:p>
            <a:pPr algn="ctr"/>
            <a:endParaRPr lang="pt-BR" sz="44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Fundamentos e evolução da informática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Classificação dos computadores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Componentes de um computador</a:t>
            </a:r>
          </a:p>
          <a:p>
            <a:pPr algn="just"/>
            <a:endParaRPr lang="pt-BR" sz="44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Categorias de software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Processamento de dados: Conceitos de dados e informações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2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600" dirty="0">
              <a:latin typeface="Futura Bk BT" panose="020B0502020204020303"/>
            </a:endParaRPr>
          </a:p>
        </p:txBody>
      </p:sp>
    </p:spTree>
    <p:extLst>
      <p:ext uri="{BB962C8B-B14F-4D97-AF65-F5344CB8AC3E}">
        <p14:creationId xmlns:p14="http://schemas.microsoft.com/office/powerpoint/2010/main" val="349285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Planejamento do Curso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7DF21E7-64FC-57E0-6C7A-77EE4FD8FFAE}"/>
              </a:ext>
            </a:extLst>
          </p:cNvPr>
          <p:cNvSpPr txBox="1"/>
          <p:nvPr/>
        </p:nvSpPr>
        <p:spPr>
          <a:xfrm>
            <a:off x="880206" y="3317442"/>
            <a:ext cx="22463759" cy="926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Futura Bk BT" panose="020B0502020204020303"/>
              </a:rPr>
              <a:t>Unidade II – A Internet e seu impacto no mundo corporativo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Tecnologias da Informação e Comunicação – TICs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Conceitos e utilização das principais ferramentas da internet: e-mail, redes sociais, blogs, sites, ferramentas de voz e vídeo via internet, serviços de armazenamento em nuvem.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Segurança da informação – uso seguro da internet, golpes na internet, mecanismos de segurança e privacidade.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Sigilo e armazenamento das informações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2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600" dirty="0">
              <a:latin typeface="Futura Bk BT" panose="020B0502020204020303"/>
            </a:endParaRPr>
          </a:p>
        </p:txBody>
      </p:sp>
    </p:spTree>
    <p:extLst>
      <p:ext uri="{BB962C8B-B14F-4D97-AF65-F5344CB8AC3E}">
        <p14:creationId xmlns:p14="http://schemas.microsoft.com/office/powerpoint/2010/main" val="180791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Planejamento do Curso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7DF21E7-64FC-57E0-6C7A-77EE4FD8FFAE}"/>
              </a:ext>
            </a:extLst>
          </p:cNvPr>
          <p:cNvSpPr txBox="1"/>
          <p:nvPr/>
        </p:nvSpPr>
        <p:spPr>
          <a:xfrm>
            <a:off x="880206" y="3317442"/>
            <a:ext cx="22463759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Futura Bk BT" panose="020B0502020204020303"/>
              </a:rPr>
              <a:t>Unidade III – Aplicativos de Escritório</a:t>
            </a:r>
          </a:p>
          <a:p>
            <a:pPr algn="ctr"/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Utilização de ferramentas de criação e editoração de textos: criação, edição e formatação de textos.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Utilização de ferramentas de criação e editoração de planilhas: criação, edição e formatação de planilhas. Utilização de fórmulas e funções.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pt-BR" sz="4400" dirty="0">
              <a:latin typeface="Futura Bk BT" panose="020B0502020204020303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400" dirty="0">
                <a:latin typeface="Futura Bk BT" panose="020B0502020204020303"/>
              </a:rPr>
              <a:t>Utilização de ferramentas de criação e editoração de apresentações: criação, edição e formatação de apresentações.</a:t>
            </a:r>
            <a:endParaRPr lang="pt-BR" sz="3200" dirty="0">
              <a:latin typeface="Futura Bk BT" panose="020B0502020204020303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pt-BR" sz="3600" dirty="0">
              <a:latin typeface="Futura Bk BT" panose="020B0502020204020303"/>
            </a:endParaRPr>
          </a:p>
        </p:txBody>
      </p:sp>
    </p:spTree>
    <p:extLst>
      <p:ext uri="{BB962C8B-B14F-4D97-AF65-F5344CB8AC3E}">
        <p14:creationId xmlns:p14="http://schemas.microsoft.com/office/powerpoint/2010/main" val="23565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Bibliografia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D7B0C96A-9D0D-45D0-98F2-E93EB1421C53}"/>
              </a:ext>
            </a:extLst>
          </p:cNvPr>
          <p:cNvSpPr txBox="1"/>
          <p:nvPr/>
        </p:nvSpPr>
        <p:spPr>
          <a:xfrm>
            <a:off x="1309689" y="2947735"/>
            <a:ext cx="22517099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4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ALVES, Fernando T. Apostila Informática Básica. Rio de Janeiro, 2026.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BATES, Tony. Educar na Era Digital. São Paulo: Artesanato Educacional, 2016.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EDITORA ONLINE. Guia a história do computador da pré-história ao futuro. 1. ed.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LEMOS, André. Cibercultura: tecnologia e vida social na cultura contemporânea. 6. ed. Porto Alegre: Sulina, 2013.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RECUERO, Raquel. Redes Sociais na Internet. 2. ed. Porto Alegre: Sulina, 2014.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WILLIAMS, Robin. Design para quem não é Designer. 4. ed. Tradução de Bárbara Menezes. São Paulo: Callis, 2013.</a:t>
            </a:r>
          </a:p>
          <a:p>
            <a:pPr algn="just"/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pt-BR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8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que é Informática?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1026" name="Picture 2" descr="Stream Computer Soup (w/ Chris Mazuera) by G Mills | Listen online for free  on SoundCloud">
            <a:extLst>
              <a:ext uri="{FF2B5EF4-FFF2-40B4-BE49-F238E27FC236}">
                <a16:creationId xmlns:a16="http://schemas.microsoft.com/office/drawing/2014/main" id="{D66185D6-1BD0-FE94-12B7-305B4FC7F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8390" y="3594891"/>
            <a:ext cx="7700010" cy="770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E69EF97-E1EB-8FC2-7ACD-4C09049B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429156"/>
            <a:ext cx="8031480" cy="803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83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Começando a contar... 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A25A99-3EE8-0772-E25C-317C0F67C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22" y="3769283"/>
            <a:ext cx="5729287" cy="277970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E53F3E0-D88A-534D-F302-153BCBF54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23" y="6857141"/>
            <a:ext cx="5729286" cy="4788873"/>
          </a:xfrm>
          <a:prstGeom prst="rect">
            <a:avLst/>
          </a:prstGeom>
        </p:spPr>
      </p:pic>
      <p:pic>
        <p:nvPicPr>
          <p:cNvPr id="14" name="Picture 2" descr="As origens da Matemática – dos processos de contagem aos sistem">
            <a:extLst>
              <a:ext uri="{FF2B5EF4-FFF2-40B4-BE49-F238E27FC236}">
                <a16:creationId xmlns:a16="http://schemas.microsoft.com/office/drawing/2014/main" id="{6474CDEC-5679-7DB0-E2D9-492D62E01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169" y="3730497"/>
            <a:ext cx="7659637" cy="277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 osso de Ishango, de 20 mil anos, parece mostrar riscos que correspondiam  a marcas de contagem | maisfm.com">
            <a:extLst>
              <a:ext uri="{FF2B5EF4-FFF2-40B4-BE49-F238E27FC236}">
                <a16:creationId xmlns:a16="http://schemas.microsoft.com/office/drawing/2014/main" id="{3256F1FE-4BD4-E85D-5D8B-BAB3B973A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747" y="8205945"/>
            <a:ext cx="59436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Ábaco – Wikipédia, a enciclopédia livre">
            <a:extLst>
              <a:ext uri="{FF2B5EF4-FFF2-40B4-BE49-F238E27FC236}">
                <a16:creationId xmlns:a16="http://schemas.microsoft.com/office/drawing/2014/main" id="{6D0DC451-F928-35E7-327C-F1F0FE38A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406" y="7745376"/>
            <a:ext cx="4839617" cy="322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escomplicando A Matemática: Tipos de Ábaco e sua história">
            <a:extLst>
              <a:ext uri="{FF2B5EF4-FFF2-40B4-BE49-F238E27FC236}">
                <a16:creationId xmlns:a16="http://schemas.microsoft.com/office/drawing/2014/main" id="{E5B684EC-1F2C-C7E6-2459-7F30FBAC4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406" y="3862440"/>
            <a:ext cx="3969490" cy="255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27AE2BF-56D0-95F0-34F7-BDE404E048B2}"/>
              </a:ext>
            </a:extLst>
          </p:cNvPr>
          <p:cNvSpPr txBox="1"/>
          <p:nvPr/>
        </p:nvSpPr>
        <p:spPr>
          <a:xfrm>
            <a:off x="9265443" y="6626308"/>
            <a:ext cx="394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Futura Bk BT" panose="020B0502020204020303"/>
              </a:rPr>
              <a:t>Vara de Contagem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33C6A63-2803-1D0B-32A1-9B1AA642F149}"/>
              </a:ext>
            </a:extLst>
          </p:cNvPr>
          <p:cNvSpPr txBox="1"/>
          <p:nvPr/>
        </p:nvSpPr>
        <p:spPr>
          <a:xfrm>
            <a:off x="9265442" y="11741220"/>
            <a:ext cx="394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Futura Bk BT" panose="020B0502020204020303"/>
              </a:rPr>
              <a:t>Osso de </a:t>
            </a:r>
            <a:r>
              <a:rPr lang="pt-BR" sz="2400" dirty="0" err="1">
                <a:latin typeface="Futura Bk BT" panose="020B0502020204020303"/>
              </a:rPr>
              <a:t>Ishang</a:t>
            </a:r>
            <a:endParaRPr lang="pt-BR" sz="2400" dirty="0">
              <a:latin typeface="Futura Bk BT" panose="020B0502020204020303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6E57DDF-6CF6-162A-C46A-417AF4F1A3A1}"/>
              </a:ext>
            </a:extLst>
          </p:cNvPr>
          <p:cNvSpPr txBox="1"/>
          <p:nvPr/>
        </p:nvSpPr>
        <p:spPr>
          <a:xfrm>
            <a:off x="17732406" y="6618150"/>
            <a:ext cx="394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Futura Bk BT" panose="020B0502020204020303"/>
              </a:rPr>
              <a:t>Ábaco Antigo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CE9D074-B448-D218-D563-B2B1F291D561}"/>
              </a:ext>
            </a:extLst>
          </p:cNvPr>
          <p:cNvSpPr txBox="1"/>
          <p:nvPr/>
        </p:nvSpPr>
        <p:spPr>
          <a:xfrm>
            <a:off x="18087506" y="11024487"/>
            <a:ext cx="394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Futura Bk BT" panose="020B0502020204020303"/>
              </a:rPr>
              <a:t>Ábaco Madeira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E1B4AA8-DAB9-4759-698D-3022283B3321}"/>
              </a:ext>
            </a:extLst>
          </p:cNvPr>
          <p:cNvSpPr txBox="1"/>
          <p:nvPr/>
        </p:nvSpPr>
        <p:spPr>
          <a:xfrm>
            <a:off x="11016293" y="12120973"/>
            <a:ext cx="12218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000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</a:t>
            </a:r>
            <a:r>
              <a:rPr lang="pt-BR" sz="2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: História da Computação – Raul Sidnei </a:t>
            </a:r>
            <a:r>
              <a:rPr lang="pt-BR" sz="2000" dirty="0" err="1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Wazlawick</a:t>
            </a:r>
            <a:endParaRPr lang="pt-BR" sz="2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92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Evolução dos Computadores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6ACB92-9FAF-DB2F-1088-4843CBC37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884" y="3350688"/>
            <a:ext cx="15830936" cy="81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Computador de Von Neumann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3074" name="Picture 2" descr="Modelo de Von Neumann - Hardware">
            <a:extLst>
              <a:ext uri="{FF2B5EF4-FFF2-40B4-BE49-F238E27FC236}">
                <a16:creationId xmlns:a16="http://schemas.microsoft.com/office/drawing/2014/main" id="{78977474-C866-9EEE-C732-B9B3FBD9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3817" y="3636380"/>
            <a:ext cx="8334583" cy="793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ida &amp; Obra de John von Neumann • Notícias • Clube da SPM">
            <a:extLst>
              <a:ext uri="{FF2B5EF4-FFF2-40B4-BE49-F238E27FC236}">
                <a16:creationId xmlns:a16="http://schemas.microsoft.com/office/drawing/2014/main" id="{B567D66D-03B0-D8CF-831D-F0E326D5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068338"/>
            <a:ext cx="7328729" cy="492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0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x Software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8316017-CF04-25DB-9F3B-77E24DA6F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4" y="3292882"/>
            <a:ext cx="8018145" cy="85543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5BDD4B8-D087-4D25-4552-AC8B83901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620" y="3131821"/>
            <a:ext cx="7983339" cy="837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4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</a:t>
            </a:r>
            <a:r>
              <a:rPr lang="pt-BR" sz="8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Techs</a:t>
            </a:r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IA...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" name="Imagem 1" descr="How to get a job in FAANG companies - Facebook, Amazon, Apple, Netflix, and Google - India Today">
            <a:extLst>
              <a:ext uri="{FF2B5EF4-FFF2-40B4-BE49-F238E27FC236}">
                <a16:creationId xmlns:a16="http://schemas.microsoft.com/office/drawing/2014/main" id="{F853CDFA-96C2-761F-7286-868102614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144" y="3896277"/>
            <a:ext cx="7029450" cy="3943350"/>
          </a:xfrm>
          <a:prstGeom prst="rect">
            <a:avLst/>
          </a:prstGeom>
        </p:spPr>
      </p:pic>
      <p:pic>
        <p:nvPicPr>
          <p:cNvPr id="3" name="Imagem 2" descr="Apple, Google e mais: conheça as '7 Magníficas' que dominam o mundo">
            <a:extLst>
              <a:ext uri="{FF2B5EF4-FFF2-40B4-BE49-F238E27FC236}">
                <a16:creationId xmlns:a16="http://schemas.microsoft.com/office/drawing/2014/main" id="{D6E44823-E1BE-0CAD-EEE7-6C3DDC962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884" y="6858000"/>
            <a:ext cx="6076950" cy="4572000"/>
          </a:xfrm>
          <a:prstGeom prst="rect">
            <a:avLst/>
          </a:prstGeom>
        </p:spPr>
      </p:pic>
      <p:pic>
        <p:nvPicPr>
          <p:cNvPr id="4" name="Imagem 3" descr="Why do so many AI company logos look like abstract buttholes? | by ambuj singh | AI &amp; AI Agent | Medium">
            <a:extLst>
              <a:ext uri="{FF2B5EF4-FFF2-40B4-BE49-F238E27FC236}">
                <a16:creationId xmlns:a16="http://schemas.microsoft.com/office/drawing/2014/main" id="{555D7ED8-130E-FAFA-0C55-E12D3F309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0" y="4601657"/>
            <a:ext cx="10994517" cy="61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7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Começando do início...</a:t>
            </a:r>
            <a:endParaRPr lang="en-US" sz="66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83207B4-E1F6-0950-C527-34E1161BAB37}"/>
              </a:ext>
            </a:extLst>
          </p:cNvPr>
          <p:cNvSpPr txBox="1"/>
          <p:nvPr/>
        </p:nvSpPr>
        <p:spPr>
          <a:xfrm>
            <a:off x="1211452" y="3907096"/>
            <a:ext cx="12778867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800" b="1" dirty="0"/>
              <a:t>Você sabe usar o computador?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b="1" dirty="0"/>
              <a:t>Você sabe o que é um Sistema Operacional?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b="1" dirty="0"/>
              <a:t>Você sabe usar um Navegador (Browser) ?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b="1" dirty="0"/>
              <a:t>Você sabe enviar e ler um e-mail?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b="1" dirty="0"/>
              <a:t>Você tem uma conta no Google?</a:t>
            </a:r>
          </a:p>
          <a:p>
            <a:endParaRPr lang="pt-BR" dirty="0"/>
          </a:p>
        </p:txBody>
      </p:sp>
      <p:pic>
        <p:nvPicPr>
          <p:cNvPr id="4098" name="Picture 2" descr="Computador Completo TOB Intel Core I5 4aGeração Memória 8GB Ssd 480GB Teclado Mouse Win10 Trial, Monitor 21 Desktop Pc Cpu">
            <a:extLst>
              <a:ext uri="{FF2B5EF4-FFF2-40B4-BE49-F238E27FC236}">
                <a16:creationId xmlns:a16="http://schemas.microsoft.com/office/drawing/2014/main" id="{90088543-571F-3BAC-3C32-9D78B40D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7115" y="3611078"/>
            <a:ext cx="2738229" cy="273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O que é sistema operacional? Entenda sua importância e suas funções!">
            <a:extLst>
              <a:ext uri="{FF2B5EF4-FFF2-40B4-BE49-F238E27FC236}">
                <a16:creationId xmlns:a16="http://schemas.microsoft.com/office/drawing/2014/main" id="{9A5C3B65-9955-A5EA-59A0-63ECF106F9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6728460" cy="67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6" descr="O que é sistema operacional? Entenda sua importância e suas funções!">
            <a:extLst>
              <a:ext uri="{FF2B5EF4-FFF2-40B4-BE49-F238E27FC236}">
                <a16:creationId xmlns:a16="http://schemas.microsoft.com/office/drawing/2014/main" id="{C3603EFC-FC31-1D31-270F-E0DC6B5BA7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0" y="6858000"/>
            <a:ext cx="6728460" cy="67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EE69DE0-3911-FCF0-927D-45DF05C45D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A690ECB-98F0-8012-9788-040D8F63C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0460" y="3458851"/>
            <a:ext cx="4022535" cy="2381764"/>
          </a:xfrm>
          <a:prstGeom prst="rect">
            <a:avLst/>
          </a:prstGeom>
        </p:spPr>
      </p:pic>
      <p:pic>
        <p:nvPicPr>
          <p:cNvPr id="4106" name="Picture 10" descr="16 atalhos mais úteis dos navegadores">
            <a:extLst>
              <a:ext uri="{FF2B5EF4-FFF2-40B4-BE49-F238E27FC236}">
                <a16:creationId xmlns:a16="http://schemas.microsoft.com/office/drawing/2014/main" id="{99596701-9514-768D-0A9A-56F16E3AF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6958" y="7716266"/>
            <a:ext cx="427672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O Guia Definitivo de Como Escrever um E-mail 📧: Dicas e Truques para  Encantar sua Caixa de Entrada! - Blog Nova Legião">
            <a:extLst>
              <a:ext uri="{FF2B5EF4-FFF2-40B4-BE49-F238E27FC236}">
                <a16:creationId xmlns:a16="http://schemas.microsoft.com/office/drawing/2014/main" id="{6E52B87D-13B1-ACD8-A89C-4B718BCAE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0460" y="7086471"/>
            <a:ext cx="3851198" cy="216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Criar conta Google usando e-mail da empresa">
            <a:extLst>
              <a:ext uri="{FF2B5EF4-FFF2-40B4-BE49-F238E27FC236}">
                <a16:creationId xmlns:a16="http://schemas.microsoft.com/office/drawing/2014/main" id="{E472B2E5-0A0F-2FE3-F709-0C1CBEB56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7946" y="10001251"/>
            <a:ext cx="28575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AEBFC63-0F46-6739-3B89-914763D1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A8260B-A72F-123F-B7C5-1D8E1C034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143189-B120-C4AE-CAAE-F194C0680C23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2" name="Espaço Reservado para Número de Slide 1">
            <a:extLst>
              <a:ext uri="{FF2B5EF4-FFF2-40B4-BE49-F238E27FC236}">
                <a16:creationId xmlns:a16="http://schemas.microsoft.com/office/drawing/2014/main" id="{9E58CAB7-25EA-16EA-09B8-FDC49C351CF5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Espaço Reservado para Rodapé 2">
            <a:extLst>
              <a:ext uri="{FF2B5EF4-FFF2-40B4-BE49-F238E27FC236}">
                <a16:creationId xmlns:a16="http://schemas.microsoft.com/office/drawing/2014/main" id="{83768357-E4B3-7C14-B93E-C18322AC0219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Navegando na internet...</a:t>
            </a:r>
            <a:endParaRPr lang="en-US" sz="28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1EAB97-D259-5816-9100-B0487F01EF02}"/>
              </a:ext>
            </a:extLst>
          </p:cNvPr>
          <p:cNvSpPr txBox="1"/>
          <p:nvPr/>
        </p:nvSpPr>
        <p:spPr>
          <a:xfrm>
            <a:off x="4523514" y="2743051"/>
            <a:ext cx="18953706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Navegadores/Browsers  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o que é um Browser ou Navegador?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conhece o navegador Netscape?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Quais os navegadores mais usados nos dias atuais?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O que é WWW, HTTP/HTTPS, URL?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o que é domínio?</a:t>
            </a:r>
          </a:p>
          <a:p>
            <a:pPr marL="571500" indent="-571500" algn="l">
              <a:buFont typeface="Wingdings" panose="05000000000000000000" pitchFamily="2" charset="2"/>
              <a:buChar char="q"/>
            </a:pPr>
            <a:endParaRPr lang="pt-BR" sz="4000" b="0" i="0" dirty="0">
              <a:effectLst/>
              <a:latin typeface="Futura Bk BT" panose="020B0502020204020303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E-mail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usa qual serviço de e-mail? Google, Outlook, Yahoo ou iCloud?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diferenciar um e-mail com domínio próprio?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ler e enviar um e-mail?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diferenciar os campos do e-mail? Para (</a:t>
            </a:r>
            <a:r>
              <a:rPr lang="pt-BR" sz="4000" dirty="0" err="1">
                <a:latin typeface="Futura Bk BT" panose="020B0502020204020303"/>
              </a:rPr>
              <a:t>To</a:t>
            </a:r>
            <a:r>
              <a:rPr lang="pt-BR" sz="4000" dirty="0">
                <a:latin typeface="Futura Bk BT" panose="020B0502020204020303"/>
              </a:rPr>
              <a:t>); </a:t>
            </a:r>
            <a:r>
              <a:rPr lang="pt-BR" sz="4000" dirty="0" err="1">
                <a:latin typeface="Futura Bk BT" panose="020B0502020204020303"/>
              </a:rPr>
              <a:t>Cc</a:t>
            </a:r>
            <a:r>
              <a:rPr lang="pt-BR" sz="4000" dirty="0">
                <a:latin typeface="Futura Bk BT" panose="020B0502020204020303"/>
              </a:rPr>
              <a:t>; </a:t>
            </a:r>
            <a:r>
              <a:rPr lang="pt-BR" sz="4000" dirty="0" err="1">
                <a:latin typeface="Futura Bk BT" panose="020B0502020204020303"/>
              </a:rPr>
              <a:t>Cco</a:t>
            </a:r>
            <a:r>
              <a:rPr lang="pt-BR" sz="4000" dirty="0">
                <a:latin typeface="Futura Bk BT" panose="020B0502020204020303"/>
              </a:rPr>
              <a:t>, Assunto(</a:t>
            </a:r>
            <a:r>
              <a:rPr lang="pt-BR" sz="4000" dirty="0" err="1">
                <a:latin typeface="Futura Bk BT" panose="020B0502020204020303"/>
              </a:rPr>
              <a:t>subject</a:t>
            </a:r>
            <a:r>
              <a:rPr lang="pt-BR" sz="4000" dirty="0">
                <a:latin typeface="Futura Bk BT" panose="020B0502020204020303"/>
              </a:rPr>
              <a:t>); Corpo; Adicionar Anexo;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programar envio de e-mail?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utiliza os itens de formatação de e-mail</a:t>
            </a:r>
            <a:endParaRPr lang="pt-BR" sz="4000" b="0" i="0" dirty="0">
              <a:effectLst/>
              <a:latin typeface="Futura Bk BT" panose="020B0502020204020303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070BD3-7B5E-E795-25EF-A80448302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07" y="9144009"/>
            <a:ext cx="3877563" cy="130206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2F89B83-CCE2-101E-3BA4-1D53A24D7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93" y="3144489"/>
            <a:ext cx="3524250" cy="18954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411DCD5-A6F6-D0A6-E0B0-6A9C06E19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86" y="5161523"/>
            <a:ext cx="2152650" cy="1628775"/>
          </a:xfrm>
          <a:prstGeom prst="rect">
            <a:avLst/>
          </a:prstGeom>
        </p:spPr>
      </p:pic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A6F4D2FD-BDCD-37E4-99AC-BEE4CB6C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41F89C01-7E69-F5FD-C59A-5F34CEC5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8B122A-2E1C-D2DF-0229-6CE0BD2C960F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4C47DE6E-0419-D8E7-F657-B5F805132ACB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Espaço Reservado para Rodapé 2">
            <a:extLst>
              <a:ext uri="{FF2B5EF4-FFF2-40B4-BE49-F238E27FC236}">
                <a16:creationId xmlns:a16="http://schemas.microsoft.com/office/drawing/2014/main" id="{2DBE15CA-0D7F-B6BE-6EB0-AE937F00B45F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8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Usando Redes Sociais...</a:t>
            </a:r>
            <a:endParaRPr lang="en-US" sz="28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1EAB97-D259-5816-9100-B0487F01EF02}"/>
              </a:ext>
            </a:extLst>
          </p:cNvPr>
          <p:cNvSpPr txBox="1"/>
          <p:nvPr/>
        </p:nvSpPr>
        <p:spPr>
          <a:xfrm>
            <a:off x="2257947" y="7747396"/>
            <a:ext cx="189537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Rede Social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o que é uma Rede Social?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teve conta no Orkut, MySpace, Google+, ICQ, MSN?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tem conta no Facebook, Instagram, X (</a:t>
            </a:r>
            <a:r>
              <a:rPr lang="pt-BR" sz="4000" dirty="0" err="1">
                <a:latin typeface="Futura Bk BT" panose="020B0502020204020303"/>
              </a:rPr>
              <a:t>ex-Twitter</a:t>
            </a:r>
            <a:r>
              <a:rPr lang="pt-BR" sz="4000" dirty="0">
                <a:latin typeface="Futura Bk BT" panose="020B0502020204020303"/>
              </a:rPr>
              <a:t>), TikTok, LinkedIn, WhatsApp, </a:t>
            </a:r>
            <a:r>
              <a:rPr lang="pt-BR" sz="4000" dirty="0" err="1">
                <a:latin typeface="Futura Bk BT" panose="020B0502020204020303"/>
              </a:rPr>
              <a:t>Telegram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Reddit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Discord</a:t>
            </a:r>
            <a:r>
              <a:rPr lang="pt-BR" sz="4000" dirty="0">
                <a:latin typeface="Futura Bk BT" panose="020B0502020204020303"/>
              </a:rPr>
              <a:t>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diferenciar o público e o alvo de cada uma desta redes sociais?</a:t>
            </a:r>
          </a:p>
        </p:txBody>
      </p:sp>
      <p:pic>
        <p:nvPicPr>
          <p:cNvPr id="1026" name="Picture 2" descr="Sua empresa não precisa estar em todas as redes sociais">
            <a:extLst>
              <a:ext uri="{FF2B5EF4-FFF2-40B4-BE49-F238E27FC236}">
                <a16:creationId xmlns:a16="http://schemas.microsoft.com/office/drawing/2014/main" id="{A4BB5942-C162-9E0E-E114-ACFF4BBF5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079" y="3360981"/>
            <a:ext cx="7128254" cy="374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0DB79C52-2194-9D2A-CD59-01C954D8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8209A4CF-F84F-F531-B221-68F30AA9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5B94CA-24AF-5A43-FECE-4FCC0802CDCD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8B3E6789-BB20-B5B0-6E9C-15D5AF8EF9D0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2">
            <a:extLst>
              <a:ext uri="{FF2B5EF4-FFF2-40B4-BE49-F238E27FC236}">
                <a16:creationId xmlns:a16="http://schemas.microsoft.com/office/drawing/2014/main" id="{F9757486-DFFB-35A7-42BC-51BA72B1BEFC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57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 Streamings...</a:t>
            </a:r>
            <a:endParaRPr lang="en-US" sz="28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1EAB97-D259-5816-9100-B0487F01EF02}"/>
              </a:ext>
            </a:extLst>
          </p:cNvPr>
          <p:cNvSpPr txBox="1"/>
          <p:nvPr/>
        </p:nvSpPr>
        <p:spPr>
          <a:xfrm>
            <a:off x="2257947" y="7747396"/>
            <a:ext cx="189537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Serviços de Streaming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o que é um Serviço de Streaming?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Todo o serviços de streaming tem assinatura?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o que é uma TVBOX?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sabe o que é um VOD (</a:t>
            </a:r>
            <a:r>
              <a:rPr lang="pt-BR" sz="4000" dirty="0" err="1">
                <a:latin typeface="Futura Bk BT" panose="020B0502020204020303"/>
              </a:rPr>
              <a:t>Video</a:t>
            </a:r>
            <a:r>
              <a:rPr lang="pt-BR" sz="4000" dirty="0">
                <a:latin typeface="Futura Bk BT" panose="020B0502020204020303"/>
              </a:rPr>
              <a:t> </a:t>
            </a:r>
            <a:r>
              <a:rPr lang="pt-BR" sz="4000" dirty="0" err="1">
                <a:latin typeface="Futura Bk BT" panose="020B0502020204020303"/>
              </a:rPr>
              <a:t>on</a:t>
            </a:r>
            <a:r>
              <a:rPr lang="pt-BR" sz="4000" dirty="0">
                <a:latin typeface="Futura Bk BT" panose="020B0502020204020303"/>
              </a:rPr>
              <a:t> </a:t>
            </a:r>
            <a:r>
              <a:rPr lang="pt-BR" sz="4000" dirty="0" err="1">
                <a:latin typeface="Futura Bk BT" panose="020B0502020204020303"/>
              </a:rPr>
              <a:t>Demand</a:t>
            </a:r>
            <a:r>
              <a:rPr lang="pt-BR" sz="4000" dirty="0">
                <a:latin typeface="Futura Bk BT" panose="020B0502020204020303"/>
              </a:rPr>
              <a:t>)?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sabe diferenciar SVOD, TVOD e AVOD?</a:t>
            </a:r>
          </a:p>
        </p:txBody>
      </p:sp>
      <p:pic>
        <p:nvPicPr>
          <p:cNvPr id="4" name="Picture 2" descr="Mercado de streaming cresce no Brasil - GKPB - Geek Publicitário">
            <a:extLst>
              <a:ext uri="{FF2B5EF4-FFF2-40B4-BE49-F238E27FC236}">
                <a16:creationId xmlns:a16="http://schemas.microsoft.com/office/drawing/2014/main" id="{F633B6CC-D079-9FD2-FD4F-083759F6E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601" y="2938523"/>
            <a:ext cx="7766797" cy="434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E35DFBA8-8D51-9CF4-E54F-641B8337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Espaço Reservado para Rodapé 2">
            <a:extLst>
              <a:ext uri="{FF2B5EF4-FFF2-40B4-BE49-F238E27FC236}">
                <a16:creationId xmlns:a16="http://schemas.microsoft.com/office/drawing/2014/main" id="{9481C545-35C9-3AE9-D2FA-8FC3989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98884-70AD-F834-5708-471D09A1D43D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8" name="Espaço Reservado para Número de Slide 1">
            <a:extLst>
              <a:ext uri="{FF2B5EF4-FFF2-40B4-BE49-F238E27FC236}">
                <a16:creationId xmlns:a16="http://schemas.microsoft.com/office/drawing/2014/main" id="{4196EAF4-8E04-D2CC-C267-BCA9DFC1C0DA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Espaço Reservado para Rodapé 2">
            <a:extLst>
              <a:ext uri="{FF2B5EF4-FFF2-40B4-BE49-F238E27FC236}">
                <a16:creationId xmlns:a16="http://schemas.microsoft.com/office/drawing/2014/main" id="{BFDAB807-5972-0738-9E04-5B4E8B00135A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9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Aprendendo na Internet...</a:t>
            </a:r>
            <a:endParaRPr lang="en-US" sz="28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1EAB97-D259-5816-9100-B0487F01EF02}"/>
              </a:ext>
            </a:extLst>
          </p:cNvPr>
          <p:cNvSpPr txBox="1"/>
          <p:nvPr/>
        </p:nvSpPr>
        <p:spPr>
          <a:xfrm>
            <a:off x="2257947" y="7747396"/>
            <a:ext cx="189537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Plataforma de Cursos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conhece uma plataforma de cursos? </a:t>
            </a:r>
            <a:r>
              <a:rPr lang="pt-BR" sz="4000" dirty="0" err="1">
                <a:latin typeface="Futura Bk BT" panose="020B0502020204020303"/>
              </a:rPr>
              <a:t>Coursera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Udemy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edX</a:t>
            </a:r>
            <a:r>
              <a:rPr lang="pt-BR" sz="4000" dirty="0">
                <a:latin typeface="Futura Bk BT" panose="020B0502020204020303"/>
              </a:rPr>
              <a:t>, Khan </a:t>
            </a:r>
            <a:r>
              <a:rPr lang="pt-BR" sz="4000" dirty="0" err="1">
                <a:latin typeface="Futura Bk BT" panose="020B0502020204020303"/>
              </a:rPr>
              <a:t>Academy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Skillshare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FutureLearn</a:t>
            </a:r>
            <a:r>
              <a:rPr lang="pt-BR" sz="4000" dirty="0">
                <a:latin typeface="Futura Bk BT" panose="020B0502020204020303"/>
              </a:rPr>
              <a:t>, </a:t>
            </a:r>
            <a:r>
              <a:rPr lang="pt-BR" sz="4000" dirty="0" err="1">
                <a:latin typeface="Futura Bk BT" panose="020B0502020204020303"/>
              </a:rPr>
              <a:t>Pluralsight</a:t>
            </a:r>
            <a:r>
              <a:rPr lang="pt-BR" sz="4000" dirty="0">
                <a:latin typeface="Futura Bk BT" panose="020B0502020204020303"/>
              </a:rPr>
              <a:t>, Alison, </a:t>
            </a:r>
            <a:r>
              <a:rPr lang="pt-BR" sz="4000" dirty="0" err="1">
                <a:latin typeface="Futura Bk BT" panose="020B0502020204020303"/>
              </a:rPr>
              <a:t>Domestika</a:t>
            </a:r>
            <a:r>
              <a:rPr lang="pt-BR" sz="4000" dirty="0">
                <a:latin typeface="Futura Bk BT" panose="020B0502020204020303"/>
              </a:rPr>
              <a:t>.</a:t>
            </a:r>
            <a:endParaRPr lang="pt-BR" sz="4000" b="0" i="0" dirty="0">
              <a:effectLst/>
              <a:latin typeface="Futura Bk BT" panose="020B0502020204020303"/>
            </a:endParaRP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conhece os cursos EAD da Rede Federal? 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conhece a ALURA, TREINAWEB, DEVMEDIA,ASIMOV?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Você assiste cursos no Youtube?</a:t>
            </a:r>
            <a:endParaRPr lang="pt-BR" sz="4000" b="0" i="0" dirty="0">
              <a:effectLst/>
              <a:latin typeface="Futura Bk BT" panose="020B0502020204020303"/>
            </a:endParaRPr>
          </a:p>
        </p:txBody>
      </p:sp>
      <p:pic>
        <p:nvPicPr>
          <p:cNvPr id="3074" name="Picture 2" descr="Coursera">
            <a:extLst>
              <a:ext uri="{FF2B5EF4-FFF2-40B4-BE49-F238E27FC236}">
                <a16:creationId xmlns:a16="http://schemas.microsoft.com/office/drawing/2014/main" id="{E049C512-F5BC-1EEF-D31A-012660EC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386" y="509907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83A0B85-C13B-77DB-BB41-187AEDDE9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234" y="5808436"/>
            <a:ext cx="350520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dX Free Online Course New Logo PNG vector in SVG, PDF, AI, CDR format">
            <a:extLst>
              <a:ext uri="{FF2B5EF4-FFF2-40B4-BE49-F238E27FC236}">
                <a16:creationId xmlns:a16="http://schemas.microsoft.com/office/drawing/2014/main" id="{7128FCA0-97F7-69A0-699E-246F30C42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834" y="3315744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ave you seen our new look? - Khan Academy Blog">
            <a:extLst>
              <a:ext uri="{FF2B5EF4-FFF2-40B4-BE49-F238E27FC236}">
                <a16:creationId xmlns:a16="http://schemas.microsoft.com/office/drawing/2014/main" id="{459817CF-8A04-5512-DDF4-97994589B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297" y="3565294"/>
            <a:ext cx="401002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7FAD341C-E30E-71C4-5F54-374C698EF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985" y="549572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9B4574D6-20C1-979D-F207-4FA49BC61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281" y="5591175"/>
            <a:ext cx="360045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3CCD923C-0689-43E8-D4E8-1B53BD090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7874" y="3341456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Instituto Federal de Educação, Ciência e Tecnologia – Wikipédia, a  enciclopédia livre">
            <a:extLst>
              <a:ext uri="{FF2B5EF4-FFF2-40B4-BE49-F238E27FC236}">
                <a16:creationId xmlns:a16="http://schemas.microsoft.com/office/drawing/2014/main" id="{741C11E1-DCC3-61D6-9D6F-5EC3AA66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719" y="2922494"/>
            <a:ext cx="18669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Alura Cursos Online">
            <a:extLst>
              <a:ext uri="{FF2B5EF4-FFF2-40B4-BE49-F238E27FC236}">
                <a16:creationId xmlns:a16="http://schemas.microsoft.com/office/drawing/2014/main" id="{7DA96BB3-1026-1E47-D245-40B66D892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209" y="3315744"/>
            <a:ext cx="1613838" cy="161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TreinaWeb">
            <a:extLst>
              <a:ext uri="{FF2B5EF4-FFF2-40B4-BE49-F238E27FC236}">
                <a16:creationId xmlns:a16="http://schemas.microsoft.com/office/drawing/2014/main" id="{4AFA02AC-3C42-7E32-B11E-658B1822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7506" y="5434774"/>
            <a:ext cx="1575913" cy="157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Asimov Academy Funcionários, localidade, ex-alunos | LinkedIn">
            <a:extLst>
              <a:ext uri="{FF2B5EF4-FFF2-40B4-BE49-F238E27FC236}">
                <a16:creationId xmlns:a16="http://schemas.microsoft.com/office/drawing/2014/main" id="{8B64632D-D880-23C3-2764-63ADC30C0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043" y="5384069"/>
            <a:ext cx="1613838" cy="161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DevMedia | Rio de Janeiro RJ">
            <a:extLst>
              <a:ext uri="{FF2B5EF4-FFF2-40B4-BE49-F238E27FC236}">
                <a16:creationId xmlns:a16="http://schemas.microsoft.com/office/drawing/2014/main" id="{BDE67820-6B48-5EC8-031B-F30AA028A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8992" y="3222538"/>
            <a:ext cx="1828510" cy="182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44F2BB6E-DCAC-28FB-FF89-CC4A266B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206D286B-958B-75AF-36BD-4C43B756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14525D-DCD4-5030-7293-E61E390C3766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D1AC5D8A-A9BF-F4B9-BAC5-12E703FC701F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2">
            <a:extLst>
              <a:ext uri="{FF2B5EF4-FFF2-40B4-BE49-F238E27FC236}">
                <a16:creationId xmlns:a16="http://schemas.microsoft.com/office/drawing/2014/main" id="{4FBCAD23-8EF9-D539-738F-8C45C80A6FAA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23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798966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Ferramentas de IA...</a:t>
            </a:r>
            <a:endParaRPr lang="en-US" sz="28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B1EAB97-D259-5816-9100-B0487F01EF02}"/>
              </a:ext>
            </a:extLst>
          </p:cNvPr>
          <p:cNvSpPr txBox="1"/>
          <p:nvPr/>
        </p:nvSpPr>
        <p:spPr>
          <a:xfrm>
            <a:off x="2715147" y="8018959"/>
            <a:ext cx="189537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q"/>
            </a:pPr>
            <a:r>
              <a:rPr lang="pt-BR" sz="4000" b="1" i="0" dirty="0">
                <a:effectLst/>
                <a:latin typeface="Futura Bk BT" panose="020B0502020204020303"/>
              </a:rPr>
              <a:t>Ferramentas de IA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conhece uma ferramenta de IA? 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dirty="0">
                <a:latin typeface="Futura Bk BT" panose="020B0502020204020303"/>
              </a:rPr>
              <a:t>Quais tipos de ferramentas de IA você conhece?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</a:t>
            </a:r>
            <a:r>
              <a:rPr lang="pt-BR" sz="4000" dirty="0">
                <a:latin typeface="Futura Bk BT" panose="020B0502020204020303"/>
              </a:rPr>
              <a:t> utiliza essas ferramentas para que?</a:t>
            </a:r>
          </a:p>
          <a:p>
            <a:pPr marL="1485900" lvl="1" indent="-571500">
              <a:buFont typeface="Wingdings" panose="05000000000000000000" pitchFamily="2" charset="2"/>
              <a:buChar char="ü"/>
            </a:pPr>
            <a:r>
              <a:rPr lang="pt-BR" sz="4000" b="0" i="0" dirty="0">
                <a:effectLst/>
                <a:latin typeface="Futura Bk BT" panose="020B0502020204020303"/>
              </a:rPr>
              <a:t>Você consegue perguntar algo que elas não respondem corretamente?</a:t>
            </a:r>
          </a:p>
        </p:txBody>
      </p:sp>
      <p:pic>
        <p:nvPicPr>
          <p:cNvPr id="4098" name="Picture 2" descr="ChatGPT logo and Its History | LogoMyWay">
            <a:extLst>
              <a:ext uri="{FF2B5EF4-FFF2-40B4-BE49-F238E27FC236}">
                <a16:creationId xmlns:a16="http://schemas.microsoft.com/office/drawing/2014/main" id="{2A474A8E-4F39-6775-D43F-7FA9C9F5A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44" y="4423345"/>
            <a:ext cx="4547235" cy="264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laude AI: Your new favorite assistant - Jennergy QuickShare">
            <a:extLst>
              <a:ext uri="{FF2B5EF4-FFF2-40B4-BE49-F238E27FC236}">
                <a16:creationId xmlns:a16="http://schemas.microsoft.com/office/drawing/2014/main" id="{76D3EEDC-8D75-EC80-5360-8E9DCEEBF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323" y="4423345"/>
            <a:ext cx="5015354" cy="264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0BD35FD-84E3-5DE4-15C7-87098C279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3654" y="4818734"/>
            <a:ext cx="5275199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6D6F7B3E-B36D-5ECE-DD5A-FC7A9CFA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2785218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Espaço Reservado para Rodapé 2">
            <a:extLst>
              <a:ext uri="{FF2B5EF4-FFF2-40B4-BE49-F238E27FC236}">
                <a16:creationId xmlns:a16="http://schemas.microsoft.com/office/drawing/2014/main" id="{5E5E4B8A-A84F-477E-8846-78326940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2785218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4CF651-5E61-1F39-C1D5-36C0DB66BEDD}"/>
              </a:ext>
            </a:extLst>
          </p:cNvPr>
          <p:cNvSpPr/>
          <p:nvPr/>
        </p:nvSpPr>
        <p:spPr>
          <a:xfrm>
            <a:off x="-26126" y="12931372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F659329E-F2B6-4421-1FCB-D0751A7521B4}"/>
              </a:ext>
            </a:extLst>
          </p:cNvPr>
          <p:cNvSpPr txBox="1">
            <a:spLocks/>
          </p:cNvSpPr>
          <p:nvPr/>
        </p:nvSpPr>
        <p:spPr>
          <a:xfrm>
            <a:off x="18526333" y="12937618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2">
            <a:extLst>
              <a:ext uri="{FF2B5EF4-FFF2-40B4-BE49-F238E27FC236}">
                <a16:creationId xmlns:a16="http://schemas.microsoft.com/office/drawing/2014/main" id="{D13EDAB3-D82A-A0E7-B784-6A2DCF01DC25}"/>
              </a:ext>
            </a:extLst>
          </p:cNvPr>
          <p:cNvSpPr txBox="1">
            <a:spLocks/>
          </p:cNvSpPr>
          <p:nvPr/>
        </p:nvSpPr>
        <p:spPr>
          <a:xfrm>
            <a:off x="211439" y="12937618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07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de informação...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2430B94-286A-9F3F-D276-316C3F33A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59" y="2818122"/>
            <a:ext cx="9673691" cy="96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7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Atividade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Prática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0A87D99B-A9EA-5421-34D1-B4282EDA20E7}"/>
              </a:ext>
            </a:extLst>
          </p:cNvPr>
          <p:cNvSpPr txBox="1"/>
          <p:nvPr/>
        </p:nvSpPr>
        <p:spPr>
          <a:xfrm>
            <a:off x="8652896" y="2805433"/>
            <a:ext cx="15173892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b="1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Exercício — Pesquisa com Inteligência Artificial, uso do Navegador e envio de e-mail.</a:t>
            </a: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Acesse o site professorf12.com.br pelo navegador e identifique os links para ferramentas de Inteligência Artificial (IA).</a:t>
            </a: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Escolha uma das ferramentas e faça as seguintes perguntas:</a:t>
            </a:r>
          </a:p>
          <a:p>
            <a:pPr marL="1485900" lvl="1" indent="-571500" algn="just">
              <a:buFont typeface="Arial" panose="020B0604020202020204" pitchFamily="34" charset="0"/>
              <a:buChar char="•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Quem é o atual Reitor do IFRJ?</a:t>
            </a:r>
          </a:p>
          <a:p>
            <a:pPr marL="1485900" lvl="1" indent="-571500" algn="just">
              <a:buFont typeface="Arial" panose="020B0604020202020204" pitchFamily="34" charset="0"/>
              <a:buChar char="•"/>
            </a:pPr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Quem é o atual líder do Campeonato Brasileiro?</a:t>
            </a:r>
          </a:p>
          <a:p>
            <a:pPr algn="just"/>
            <a:endParaRPr lang="pt-BR" sz="40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pt-BR" sz="40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Depois, pesquise as mesmas informações na Internet e verifique se as respostas fornecidas pela IA estão corretas e atualizadas.</a:t>
            </a:r>
          </a:p>
        </p:txBody>
      </p:sp>
      <p:pic>
        <p:nvPicPr>
          <p:cNvPr id="8198" name="Picture 6" descr="Female computer user image | Free clip art, Data entry projects, Kids' book">
            <a:extLst>
              <a:ext uri="{FF2B5EF4-FFF2-40B4-BE49-F238E27FC236}">
                <a16:creationId xmlns:a16="http://schemas.microsoft.com/office/drawing/2014/main" id="{C356752C-AD55-D2E5-C506-49B45D64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" y="5058939"/>
            <a:ext cx="5860490" cy="568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Número de Slide 1">
            <a:extLst>
              <a:ext uri="{FF2B5EF4-FFF2-40B4-BE49-F238E27FC236}">
                <a16:creationId xmlns:a16="http://schemas.microsoft.com/office/drawing/2014/main" id="{1705DBC0-A77F-5CDB-C7DD-EFB010B5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ço Reservado para Rodapé 2">
            <a:extLst>
              <a:ext uri="{FF2B5EF4-FFF2-40B4-BE49-F238E27FC236}">
                <a16:creationId xmlns:a16="http://schemas.microsoft.com/office/drawing/2014/main" id="{ECD80AB6-6DBB-FCA2-C7DF-927BF0ED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BB1FA0-DA0D-9C89-9361-9B1682540B65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A78C6CC9-56F0-A790-F51B-0676157D8620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590F7186-0FF5-7660-15E4-1EA46097C72F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5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599458" y="776646"/>
            <a:ext cx="181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Atividade</a:t>
            </a:r>
            <a:r>
              <a:rPr lang="en-US" sz="6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000" b="1" spc="100" dirty="0" err="1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Prática</a:t>
            </a:r>
            <a:endParaRPr lang="en-US" sz="6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A87D99B-A9EA-5421-34D1-B4282EDA20E7}"/>
              </a:ext>
            </a:extLst>
          </p:cNvPr>
          <p:cNvSpPr txBox="1"/>
          <p:nvPr/>
        </p:nvSpPr>
        <p:spPr>
          <a:xfrm>
            <a:off x="8652896" y="2805433"/>
            <a:ext cx="15173892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 fim, envie um e-mail para o professor informando:</a:t>
            </a:r>
          </a:p>
          <a:p>
            <a:pPr algn="just"/>
            <a:endParaRPr lang="pt-BR" sz="4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Seu nome e turma;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A ferramenta de IA utilizada;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As respostas encontradas;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pt-BR" sz="48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	Se as informações fornecidas pela IA estavam corretas e atualizadas.</a:t>
            </a:r>
          </a:p>
          <a:p>
            <a:pPr marL="914400" indent="-914400" algn="just">
              <a:buAutoNum type="arabicPeriod"/>
            </a:pPr>
            <a:endParaRPr lang="pt-BR" sz="4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indent="-914400" algn="just">
              <a:buAutoNum type="arabicPeriod"/>
            </a:pPr>
            <a:endParaRPr lang="pt-BR" sz="4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endParaRPr lang="pt-BR" sz="28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198" name="Picture 6" descr="Female computer user image | Free clip art, Data entry projects, Kids' book">
            <a:extLst>
              <a:ext uri="{FF2B5EF4-FFF2-40B4-BE49-F238E27FC236}">
                <a16:creationId xmlns:a16="http://schemas.microsoft.com/office/drawing/2014/main" id="{C356752C-AD55-D2E5-C506-49B45D64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" y="5058939"/>
            <a:ext cx="5860490" cy="568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64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/>
          </p:cNvCxnSpPr>
          <p:nvPr/>
        </p:nvCxnSpPr>
        <p:spPr>
          <a:xfrm>
            <a:off x="1006413" y="2248450"/>
            <a:ext cx="180398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flipH="1">
            <a:off x="-3" y="1419726"/>
            <a:ext cx="192507" cy="15280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C9398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560AA70-139C-4738-896D-421A126AD600}"/>
              </a:ext>
            </a:extLst>
          </p:cNvPr>
          <p:cNvSpPr txBox="1"/>
          <p:nvPr/>
        </p:nvSpPr>
        <p:spPr>
          <a:xfrm>
            <a:off x="1006413" y="809192"/>
            <a:ext cx="17081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spc="100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Dúvidas?</a:t>
            </a:r>
            <a:endParaRPr lang="en-US" sz="8000" b="1" spc="100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Espaço Reservado para Número de Slide 1">
            <a:extLst>
              <a:ext uri="{FF2B5EF4-FFF2-40B4-BE49-F238E27FC236}">
                <a16:creationId xmlns:a16="http://schemas.microsoft.com/office/drawing/2014/main" id="{E1BD4A4A-95EC-412D-92F5-882C6B3F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30047" y="13077826"/>
            <a:ext cx="5486400" cy="730250"/>
          </a:xfrm>
        </p:spPr>
        <p:txBody>
          <a:bodyPr/>
          <a:lstStyle/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Espaço Reservado para Rodapé 2">
            <a:extLst>
              <a:ext uri="{FF2B5EF4-FFF2-40B4-BE49-F238E27FC236}">
                <a16:creationId xmlns:a16="http://schemas.microsoft.com/office/drawing/2014/main" id="{0C9F309A-98CD-4500-9E37-66C2AE56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153" y="13077826"/>
            <a:ext cx="23801294" cy="730250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</a:t>
            </a:r>
            <a:r>
              <a:rPr lang="pt-BR" sz="2800" dirty="0" err="1">
                <a:solidFill>
                  <a:schemeClr val="bg1"/>
                </a:solidFill>
                <a:latin typeface="Futura Bk BT" panose="020B0502020204020303" pitchFamily="34" charset="0"/>
              </a:rPr>
              <a:t>MSc</a:t>
            </a:r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 Fernando Chagas | Arquitetura de Computadores | Aula 02 – Sistemas de Numeração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pic>
        <p:nvPicPr>
          <p:cNvPr id="2050" name="Picture 2" descr="Revistas Científicas do Instituto Federal de Educação, Ciência e Tecnologia  do Rio de Janeiro">
            <a:extLst>
              <a:ext uri="{FF2B5EF4-FFF2-40B4-BE49-F238E27FC236}">
                <a16:creationId xmlns:a16="http://schemas.microsoft.com/office/drawing/2014/main" id="{E29FDD59-64FE-484F-8B59-797967A45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013" y="468941"/>
            <a:ext cx="46767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93858B31-3084-4C01-9003-FB3C0CBDE711}"/>
              </a:ext>
            </a:extLst>
          </p:cNvPr>
          <p:cNvSpPr/>
          <p:nvPr/>
        </p:nvSpPr>
        <p:spPr>
          <a:xfrm>
            <a:off x="-26126" y="13223980"/>
            <a:ext cx="24406412" cy="736496"/>
          </a:xfrm>
          <a:prstGeom prst="rect">
            <a:avLst/>
          </a:prstGeom>
          <a:solidFill>
            <a:srgbClr val="00000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2C8698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Espaço Reservado para Número de Slide 1">
            <a:extLst>
              <a:ext uri="{FF2B5EF4-FFF2-40B4-BE49-F238E27FC236}">
                <a16:creationId xmlns:a16="http://schemas.microsoft.com/office/drawing/2014/main" id="{8BB05453-1D55-476B-9FBD-3597A136AB57}"/>
              </a:ext>
            </a:extLst>
          </p:cNvPr>
          <p:cNvSpPr txBox="1">
            <a:spLocks/>
          </p:cNvSpPr>
          <p:nvPr/>
        </p:nvSpPr>
        <p:spPr>
          <a:xfrm>
            <a:off x="18526333" y="13230226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575539-BFBE-477A-BDB6-9CA7B44D81A5}" type="slidenum">
              <a:rPr lang="en-US" smtClean="0">
                <a:solidFill>
                  <a:schemeClr val="bg1"/>
                </a:solidFill>
              </a:rPr>
              <a:pPr/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Espaço Reservado para Rodapé 2">
            <a:extLst>
              <a:ext uri="{FF2B5EF4-FFF2-40B4-BE49-F238E27FC236}">
                <a16:creationId xmlns:a16="http://schemas.microsoft.com/office/drawing/2014/main" id="{A6F3D33B-BC27-4976-857A-D00B8B3395E5}"/>
              </a:ext>
            </a:extLst>
          </p:cNvPr>
          <p:cNvSpPr txBox="1">
            <a:spLocks/>
          </p:cNvSpPr>
          <p:nvPr/>
        </p:nvSpPr>
        <p:spPr>
          <a:xfrm>
            <a:off x="211439" y="13230226"/>
            <a:ext cx="238012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18288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chemeClr val="bg1"/>
                </a:solidFill>
                <a:latin typeface="Futura Bk BT" panose="020B0502020204020303" pitchFamily="34" charset="0"/>
              </a:rPr>
              <a:t>Prof. Fernando Tamberlini Alves | Informática Aplicada| Aula 01 – Introdução</a:t>
            </a:r>
            <a:endParaRPr lang="en-US" sz="2800" dirty="0">
              <a:solidFill>
                <a:schemeClr val="bg1"/>
              </a:solidFill>
              <a:latin typeface="Futura Bk BT" panose="020B05020202040203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EEC7F3-07C6-4494-9397-7CFE86310FAA}"/>
              </a:ext>
            </a:extLst>
          </p:cNvPr>
          <p:cNvSpPr txBox="1"/>
          <p:nvPr/>
        </p:nvSpPr>
        <p:spPr>
          <a:xfrm>
            <a:off x="16490449" y="9902442"/>
            <a:ext cx="653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professorf12.com.br</a:t>
            </a:r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569F469D-9E7B-4CC9-BB42-BFF5A07F398D}"/>
              </a:ext>
            </a:extLst>
          </p:cNvPr>
          <p:cNvSpPr/>
          <p:nvPr/>
        </p:nvSpPr>
        <p:spPr>
          <a:xfrm>
            <a:off x="2558138" y="9738818"/>
            <a:ext cx="1208312" cy="120831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Futura Bk BT" panose="020B0502020204020303" pitchFamily="34" charset="0"/>
              </a:rPr>
              <a:t>c</a:t>
            </a: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1CADB059-CB2C-4F03-9DF1-47ACC6C21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159" y="10073740"/>
            <a:ext cx="619616" cy="488403"/>
          </a:xfrm>
          <a:prstGeom prst="rect">
            <a:avLst/>
          </a:prstGeom>
        </p:spPr>
      </p:pic>
      <p:cxnSp>
        <p:nvCxnSpPr>
          <p:cNvPr id="22" name="Straight Connector 19">
            <a:extLst>
              <a:ext uri="{FF2B5EF4-FFF2-40B4-BE49-F238E27FC236}">
                <a16:creationId xmlns:a16="http://schemas.microsoft.com/office/drawing/2014/main" id="{93690DE0-50B8-4BE0-AA64-703AFE5673D4}"/>
              </a:ext>
            </a:extLst>
          </p:cNvPr>
          <p:cNvCxnSpPr/>
          <p:nvPr/>
        </p:nvCxnSpPr>
        <p:spPr>
          <a:xfrm>
            <a:off x="8493383" y="5611040"/>
            <a:ext cx="6200078" cy="0"/>
          </a:xfrm>
          <a:prstGeom prst="line">
            <a:avLst/>
          </a:prstGeom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53">
            <a:extLst>
              <a:ext uri="{FF2B5EF4-FFF2-40B4-BE49-F238E27FC236}">
                <a16:creationId xmlns:a16="http://schemas.microsoft.com/office/drawing/2014/main" id="{974C2307-0890-4583-9336-B28B75533561}"/>
              </a:ext>
            </a:extLst>
          </p:cNvPr>
          <p:cNvSpPr/>
          <p:nvPr/>
        </p:nvSpPr>
        <p:spPr>
          <a:xfrm>
            <a:off x="10619924" y="3168789"/>
            <a:ext cx="1990539" cy="19905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Futura Bk BT" panose="020B0502020204020303" pitchFamily="34" charset="0"/>
            </a:endParaRPr>
          </a:p>
        </p:txBody>
      </p:sp>
      <p:sp>
        <p:nvSpPr>
          <p:cNvPr id="26" name="TextBox 76">
            <a:extLst>
              <a:ext uri="{FF2B5EF4-FFF2-40B4-BE49-F238E27FC236}">
                <a16:creationId xmlns:a16="http://schemas.microsoft.com/office/drawing/2014/main" id="{98825F93-5DA9-4B52-BB44-5A405A6BE94C}"/>
              </a:ext>
            </a:extLst>
          </p:cNvPr>
          <p:cNvSpPr txBox="1"/>
          <p:nvPr/>
        </p:nvSpPr>
        <p:spPr>
          <a:xfrm>
            <a:off x="6883810" y="5505332"/>
            <a:ext cx="9861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Dúvidas?</a:t>
            </a:r>
            <a:endParaRPr lang="en-US" sz="8000" b="1" spc="100" dirty="0">
              <a:latin typeface="Futura Bk BT" panose="020B05020202040203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Picture 9">
            <a:extLst>
              <a:ext uri="{FF2B5EF4-FFF2-40B4-BE49-F238E27FC236}">
                <a16:creationId xmlns:a16="http://schemas.microsoft.com/office/drawing/2014/main" id="{73E7AF21-932B-4F00-B35D-BD19C8485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9568" y="3697183"/>
            <a:ext cx="1091250" cy="93375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713A6C-2247-4E2D-AB31-4B73F9403364}"/>
              </a:ext>
            </a:extLst>
          </p:cNvPr>
          <p:cNvSpPr txBox="1"/>
          <p:nvPr/>
        </p:nvSpPr>
        <p:spPr>
          <a:xfrm>
            <a:off x="3891007" y="9927475"/>
            <a:ext cx="8719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spc="100" dirty="0">
                <a:latin typeface="Futura Bk BT" panose="020B05020202040203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fernando.alves@ifrj.edu.br</a:t>
            </a:r>
          </a:p>
        </p:txBody>
      </p:sp>
      <p:pic>
        <p:nvPicPr>
          <p:cNvPr id="6146" name="Picture 2" descr="Resultado de imagem para icon web">
            <a:extLst>
              <a:ext uri="{FF2B5EF4-FFF2-40B4-BE49-F238E27FC236}">
                <a16:creationId xmlns:a16="http://schemas.microsoft.com/office/drawing/2014/main" id="{A276F8A5-E7E6-47E1-BD62-CB9297095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0681" y="9738818"/>
            <a:ext cx="12287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01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13205</TotalTime>
  <Words>1723</Words>
  <Application>Microsoft Office PowerPoint</Application>
  <PresentationFormat>Personalizar</PresentationFormat>
  <Paragraphs>252</Paragraphs>
  <Slides>23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Futura Bk BT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Fernando Tamberlini Alves</cp:lastModifiedBy>
  <cp:revision>485</cp:revision>
  <cp:lastPrinted>2022-06-11T19:51:40Z</cp:lastPrinted>
  <dcterms:created xsi:type="dcterms:W3CDTF">2014-09-26T10:57:37Z</dcterms:created>
  <dcterms:modified xsi:type="dcterms:W3CDTF">2026-09-29T14:32:14Z</dcterms:modified>
</cp:coreProperties>
</file>