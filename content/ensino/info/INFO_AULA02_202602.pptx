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65" r:id="rId2"/>
    <p:sldId id="572" r:id="rId3"/>
    <p:sldId id="516" r:id="rId4"/>
    <p:sldId id="517" r:id="rId5"/>
    <p:sldId id="518" r:id="rId6"/>
    <p:sldId id="574" r:id="rId7"/>
    <p:sldId id="573" r:id="rId8"/>
    <p:sldId id="575" r:id="rId9"/>
    <p:sldId id="577" r:id="rId10"/>
    <p:sldId id="515" r:id="rId11"/>
    <p:sldId id="526" r:id="rId12"/>
    <p:sldId id="541" r:id="rId13"/>
    <p:sldId id="559" r:id="rId14"/>
    <p:sldId id="560" r:id="rId15"/>
    <p:sldId id="561" r:id="rId16"/>
    <p:sldId id="562" r:id="rId17"/>
    <p:sldId id="563" r:id="rId18"/>
    <p:sldId id="564" r:id="rId19"/>
    <p:sldId id="558" r:id="rId20"/>
    <p:sldId id="542" r:id="rId21"/>
    <p:sldId id="540" r:id="rId22"/>
    <p:sldId id="544" r:id="rId23"/>
    <p:sldId id="546" r:id="rId24"/>
    <p:sldId id="547" r:id="rId25"/>
    <p:sldId id="548" r:id="rId26"/>
    <p:sldId id="549" r:id="rId27"/>
    <p:sldId id="565" r:id="rId28"/>
    <p:sldId id="566" r:id="rId29"/>
    <p:sldId id="521" r:id="rId30"/>
    <p:sldId id="557" r:id="rId31"/>
    <p:sldId id="527" r:id="rId32"/>
    <p:sldId id="529" r:id="rId33"/>
    <p:sldId id="551" r:id="rId34"/>
    <p:sldId id="552" r:id="rId35"/>
    <p:sldId id="522" r:id="rId36"/>
    <p:sldId id="538" r:id="rId37"/>
    <p:sldId id="539" r:id="rId38"/>
    <p:sldId id="528" r:id="rId39"/>
    <p:sldId id="525" r:id="rId40"/>
    <p:sldId id="570" r:id="rId41"/>
    <p:sldId id="490" r:id="rId42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506"/>
    <a:srgbClr val="FECD04"/>
    <a:srgbClr val="0579CC"/>
    <a:srgbClr val="286270"/>
    <a:srgbClr val="436B39"/>
    <a:srgbClr val="365422"/>
    <a:srgbClr val="33A9AF"/>
    <a:srgbClr val="C25252"/>
    <a:srgbClr val="DDD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72034" autoAdjust="0"/>
  </p:normalViewPr>
  <p:slideViewPr>
    <p:cSldViewPr snapToGrid="0">
      <p:cViewPr>
        <p:scale>
          <a:sx n="33" d="100"/>
          <a:sy n="33" d="100"/>
        </p:scale>
        <p:origin x="1122" y="-4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3" d="100"/>
        <a:sy n="6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51A69-C562-4FC5-92DC-994CDC1376A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47B73-6B03-4EF3-AD40-683CE00DAB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ECD0-6653-E8E1-048D-F09C61D2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5312A0-6E05-1C41-0F41-1814B688D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C7479F-4B0A-2CD8-70EE-94DDA8256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C3A3DE-25A3-A77A-713A-C40F0672D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874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21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88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258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9B76-3340-0CDC-9933-813DBEC5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20AF05-2850-3079-11F4-7418BF1CC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2818B2-EBA7-E090-91A1-3AE9FA83D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E47393-B94E-894E-2CE8-916569D49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754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AB7D-78F1-4EE1-02B3-460213A8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F14282-E606-C965-A871-C204973FB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E1AF8F-0231-5681-F41F-14C9685C1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E0E516-6167-1C4D-3280-C85C5F025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429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34F3-5FF1-56D1-D6E5-5C72BEF4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1C9323-FD39-4FF3-E21A-1C12DADFF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BF8999-0B9C-5E3D-D28C-5A0B68870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D982F2-5E0C-C6A4-5CDA-B7B2F4886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451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C274-C4C6-6D18-6BCB-026712D1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D8031C-6038-7C64-F121-D7CB98993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027175-8C0E-1A17-FD21-AA0366FE3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6C9DD3-985D-506A-7854-DE4C2F459A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149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827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295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00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55F18-D276-FCF0-5A6B-BE9BAADC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DAA346-2999-0EE9-61A4-27742990B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47848D-92DE-AB63-0CA4-46C48498B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4317E1-99EC-8A2B-E1A6-90331E011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292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FFD3-173F-1F78-AFCA-031FEF7C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DE7BA8-F9EC-9CFE-9280-223CC6241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CA4B8A-2A88-2550-007A-9FF8D4C7D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EA606F-7ED5-B41A-77F2-BC73DDC8C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687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6388-543C-1835-37B8-30671E4D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035C4B-CFDB-5878-BD82-B0BD5633B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CA621A-640D-A9CD-C62D-079CB7051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D5AF05-55B2-4BD5-59E3-C98F933FD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9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AC8F3-2832-0D97-A486-14FA8A49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705288-B637-41EC-CDFE-AB8151A83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4D7EB5-F068-F63E-ABE5-EE5463A8D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5D5E36-C424-93DF-9F2C-FA458CC35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5989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4E57-1DB4-62DC-2F53-656EAD5D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08ADDC-6770-069A-0AB4-692397A4C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C284D0-9016-1410-EF82-EC2E478F6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0E407D-559F-5E83-36B2-1981465BF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83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74B3-F98E-223A-F830-8A4733B7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D7844E-114C-8222-3C7B-47107995A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48C349-5E44-A078-C226-A478C850F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594B7-2988-B6DC-6039-DC520D8F4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63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065E1-323E-31F0-7FFF-6CDD7B4F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A51633-46E0-E8A2-3AB8-74FAB9633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C163E0-119C-7A0A-7683-639EEA31B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7A8F83-F9CB-6B9B-3F28-D4676E8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719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844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580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520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877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238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57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129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51AB-D88B-5271-B4C6-1083D2D9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E69362-11BC-FFCA-8D55-5A9FB9C41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8EEC50-DC71-D2D4-E651-64CAE8739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CC82AE-1F5A-1D4B-B8AC-89B820A11B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494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3991-471F-A6C7-C0D7-29AA1F60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ABC4F8-311F-5783-C1D4-35D9B5126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3E6F5D-58EF-6C69-AA40-2C1BEB143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C7859D-7DD0-C503-D423-9EB9FE4C7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7971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9504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636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4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0721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244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763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046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258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9599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122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14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E93D-B299-4CB3-BD50-392485B72468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0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E5822-8D7D-4849-AB2A-8BEE50A483F6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5471-9017-4C9B-A28C-2DDE840DD0B5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3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B32-BFE2-496E-8C66-20DC34104380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632D1-6107-4C9B-ACEB-C9EC3F4F785F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ED5D-E562-4547-AB55-33A9F999E9CB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0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DBF1-C26A-4FD0-84BA-B3B01B539FD8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8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9F338-0764-4DC3-85B8-45F0577FF80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0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DC77E-27A7-4C0E-8190-BFE39271B220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16BB-85EE-4EE6-B2F2-F60D967942C3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2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E742-CD43-41AD-91D0-684138BBA63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1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4E54D-58D3-4FDE-A67E-9CA59D368868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Prof. Fernando Tamberlini Alves | Informática Aplicada| Aula 02 – Ambiente &amp; SO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4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support.microsoft.com/pt-br/windows/atalhos-do-teclado-no-windows-dcc61a57-8ff0-cffe-9796-cb9706c75eec#WindowsVersion=Windows_1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gif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ED75C6ED-B3AD-460E-AC55-DC15C10096AE}"/>
              </a:ext>
            </a:extLst>
          </p:cNvPr>
          <p:cNvSpPr/>
          <p:nvPr/>
        </p:nvSpPr>
        <p:spPr>
          <a:xfrm>
            <a:off x="-22412" y="130715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286500"/>
            <a:ext cx="24384000" cy="272687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8087" y="6572717"/>
            <a:ext cx="1040753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spc="100" dirty="0">
                <a:solidFill>
                  <a:schemeClr val="bg1"/>
                </a:solidFill>
                <a:latin typeface="Futura Bk BT" panose="020B05020202040203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Disciplina</a:t>
            </a:r>
          </a:p>
          <a:p>
            <a:pPr algn="ctr"/>
            <a:r>
              <a:rPr lang="pt-BR" sz="4000" spc="100" dirty="0">
                <a:solidFill>
                  <a:schemeClr val="bg1"/>
                </a:solidFill>
                <a:latin typeface="Futura Bk BT" panose="020B05020202040203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Informática Aplicada</a:t>
            </a:r>
            <a:endParaRPr lang="en-US" sz="4000" spc="100" dirty="0">
              <a:solidFill>
                <a:schemeClr val="bg1"/>
              </a:solidFill>
              <a:latin typeface="Futura Bk BT" panose="020B05020202040203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44127" y="7346155"/>
            <a:ext cx="9376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spc="100" dirty="0">
                <a:solidFill>
                  <a:schemeClr val="bg1"/>
                </a:solidFill>
                <a:latin typeface="Futura Bk BT" panose="020B05020202040203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PROF. FERNANDO TAMBERLINI ALVES</a:t>
            </a:r>
            <a:endParaRPr lang="en-US" sz="3200" spc="100" dirty="0">
              <a:solidFill>
                <a:schemeClr val="bg1"/>
              </a:solidFill>
              <a:latin typeface="Futura Bk BT" panose="020B05020202040203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1939874" y="6851907"/>
            <a:ext cx="0" cy="1573273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2D10B37-ACD7-4888-9ED3-D7384BEC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7A66AC-7374-48AE-A3F6-28707B1C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1030" name="Picture 6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9E7B9563-E03B-495D-AB96-9B3EBBDB1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734" y="581235"/>
            <a:ext cx="14770279" cy="424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28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5B37B-21CE-5C34-DEE8-3AD17CA3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1D792B-B420-09D4-36A5-AEFCD83496BF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AB96E5C-BC0E-6404-5986-1FFF6050AC0D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D6E8FC43-AE7A-3780-B97D-14ADA64A42EA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D4D20CAB-8B9E-9C39-42E3-569491DA6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D1216961-EC22-FF10-10BC-C84C17278122}"/>
              </a:ext>
            </a:extLst>
          </p:cNvPr>
          <p:cNvSpPr txBox="1"/>
          <p:nvPr/>
        </p:nvSpPr>
        <p:spPr>
          <a:xfrm>
            <a:off x="8652896" y="2805433"/>
            <a:ext cx="15173892" cy="1037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 Operacional </a:t>
            </a: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o software, ou conjunto de software cuja função é administrar e gerenciar os recursos de um sistema, desde componentes de hardware a programa de terceiros, estabelecendo uma conexão entre os recursos do computador e o usuário.</a:t>
            </a:r>
          </a:p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Kernel (núcleo): é a parte central do SO que atua como uma ponte entre o hardware e o software gerenciando os recursos da máquina para que sejam utilizados de maneira correta.</a:t>
            </a: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Shell: é o intérprete dos comandos do SO que une o usuário e o kernel do SO.</a:t>
            </a:r>
          </a:p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pt-BR" sz="2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32" name="Picture 8" descr="Curso: GAED - Grupo de apoio às Estratégias Digitais (FEUSP), Tópico:  Pacote Básico de Programas">
            <a:extLst>
              <a:ext uri="{FF2B5EF4-FFF2-40B4-BE49-F238E27FC236}">
                <a16:creationId xmlns:a16="http://schemas.microsoft.com/office/drawing/2014/main" id="{FA5624B1-88B0-F949-7D86-D5D2F930A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2" y="3863479"/>
            <a:ext cx="4360255" cy="271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Geek News Sistema Operacional">
            <a:extLst>
              <a:ext uri="{FF2B5EF4-FFF2-40B4-BE49-F238E27FC236}">
                <a16:creationId xmlns:a16="http://schemas.microsoft.com/office/drawing/2014/main" id="{B2495445-5ECD-1C38-4C82-78C57D42C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033" y="6144048"/>
            <a:ext cx="3914775" cy="279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istemas Operativos Móviles – DTyOC">
            <a:extLst>
              <a:ext uri="{FF2B5EF4-FFF2-40B4-BE49-F238E27FC236}">
                <a16:creationId xmlns:a16="http://schemas.microsoft.com/office/drawing/2014/main" id="{1A4D6447-6F2B-B492-A13B-2D8702B6E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886" y="8795016"/>
            <a:ext cx="3694205" cy="206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65E2C7AC-FFA3-16C7-4F81-A91ECA982B1B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FCEFEA26-7EF3-66A7-E9F1-5F087B89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DAFCA540-E591-BEE2-FBB4-97510682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59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sistemaoperacional">
            <a:extLst>
              <a:ext uri="{FF2B5EF4-FFF2-40B4-BE49-F238E27FC236}">
                <a16:creationId xmlns:a16="http://schemas.microsoft.com/office/drawing/2014/main" id="{1C805F13-5F52-4810-D692-82B41ED09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760" y="4136106"/>
            <a:ext cx="12456795" cy="705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EE55590C-7592-8103-6FDA-6CDDA2EF37EF}"/>
              </a:ext>
            </a:extLst>
          </p:cNvPr>
          <p:cNvSpPr txBox="1"/>
          <p:nvPr/>
        </p:nvSpPr>
        <p:spPr>
          <a:xfrm>
            <a:off x="599458" y="2947735"/>
            <a:ext cx="9300735" cy="1283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Funções do </a:t>
            </a: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 Operacional: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Gerenciamento de processos;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Gerenciamento de memória;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Gerenciamento de arquivos;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Gerenciamento de dispositivos de entrada e saída;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Segurança e Detecção de Erros;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Interpretar os comandos do usuário;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pt-BR" sz="2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E52B658C-F83D-D7FF-D299-F2E545C759B4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BE48158F-9A8C-2E35-C6C7-139E9BD4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D021113E-E6F8-C4B9-7A20-8FA36303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27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EE55590C-7592-8103-6FDA-6CDDA2EF37EF}"/>
              </a:ext>
            </a:extLst>
          </p:cNvPr>
          <p:cNvSpPr txBox="1"/>
          <p:nvPr/>
        </p:nvSpPr>
        <p:spPr>
          <a:xfrm>
            <a:off x="599458" y="2947735"/>
            <a:ext cx="9300735" cy="773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Facilidades criadas pelo Sistema Operacional:</a:t>
            </a:r>
          </a:p>
          <a:p>
            <a:pPr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-57150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 fontAlgn="base">
              <a:spcBef>
                <a:spcPts val="4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Ocultar a complexidade do hardware;</a:t>
            </a:r>
          </a:p>
          <a:p>
            <a:pPr marL="571500" indent="-571500" algn="just" fontAlgn="base">
              <a:spcBef>
                <a:spcPts val="4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 fontAlgn="base">
              <a:spcBef>
                <a:spcPts val="4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Oferecer interfaces padronizadas de acesso ao hardware;</a:t>
            </a:r>
          </a:p>
          <a:p>
            <a:pPr marL="571500" indent="-571500" algn="just" fontAlgn="base">
              <a:spcBef>
                <a:spcPts val="4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 fontAlgn="base">
              <a:spcBef>
                <a:spcPts val="4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Permitir uma visão homogênea de dispositivos distinto.</a:t>
            </a:r>
            <a:endParaRPr lang="pt-BR" sz="2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4" name="Picture 4" descr="Demystifiying The Linux Kernel – Digilent Blog">
            <a:extLst>
              <a:ext uri="{FF2B5EF4-FFF2-40B4-BE49-F238E27FC236}">
                <a16:creationId xmlns:a16="http://schemas.microsoft.com/office/drawing/2014/main" id="{98E14A5A-506A-ACC7-75EC-038D5BAE3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5400" y="3428108"/>
            <a:ext cx="10086109" cy="7974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F7FC3E83-73DA-A92E-22EC-B8336E2CF807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B2473CAE-7A94-A405-5858-90C77E43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92980CDC-43C5-8C70-B2E2-53238172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42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EE55590C-7592-8103-6FDA-6CDDA2EF37EF}"/>
              </a:ext>
            </a:extLst>
          </p:cNvPr>
          <p:cNvSpPr txBox="1"/>
          <p:nvPr/>
        </p:nvSpPr>
        <p:spPr>
          <a:xfrm>
            <a:off x="599458" y="2704592"/>
            <a:ext cx="22649809" cy="101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</a:t>
            </a:r>
            <a:r>
              <a:rPr lang="pt-BR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Monotarefa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: são conhecidos também como sistemas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monoprogramáveis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 caracterizam por permitir que todos os recursos do sistema computacional (processador, memória e os periféricos) permanecem exclusivamente dedicados à execução de um único programa ou a uma única tarefa.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Multitarefa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Conhecido também com sistemas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multiprogramáveis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 São os sistemas operacionais mais utilizados em Desktop, notebooks e smartphones. As plataformas Windows, Mac e Linux são exemplos de sistemas operacionais que permitem que um único usuário utilize diversos programas ao mesmo tempo. Por exemplo, é possível para um usuário ao mesmo tempo ouvir musicas, fazer downloads, navegar na internet e editar um texto.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multitarefa monousuário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: são encontrados em computadores pessoais ou em estações de trabalho, onde já apenas um único usuário interagindo com o sistema. Neste caso, existe a possibilidade da execução de diversas tarefas ao mesmo tempo, como a edição de texto, uma impressão e o acesso à internet.</a:t>
            </a:r>
          </a:p>
          <a:p>
            <a:pPr marL="571500" indent="-571500" algn="just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 fontAlgn="base">
              <a:spcBef>
                <a:spcPts val="325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multitarefa multiusuários: 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ambientes que possibilitam que diversos usuários possam conectar-se ao sistema de forma simultânea.</a:t>
            </a:r>
            <a:endParaRPr lang="pt-BR" sz="2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714B21C-885B-F76B-C15B-507E35AFD6CF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0F789CF4-9968-B8DC-B3D7-D9D76CC2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6D4626F0-6457-61CE-2D5D-1012B8C2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28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2EB2-C33A-2C79-93DD-D870A48E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C8F8BA-5C84-5802-FFDD-F78783AC8BC6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0021885-2CD7-F51C-926B-0A103AE98306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DAADAECD-4251-A323-2C92-B7E8D925A795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Principais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81A96B5E-E9A1-5FB1-9802-904723651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2345BADC-D3AF-E798-30A9-EE99909B0519}"/>
              </a:ext>
            </a:extLst>
          </p:cNvPr>
          <p:cNvSpPr txBox="1"/>
          <p:nvPr/>
        </p:nvSpPr>
        <p:spPr>
          <a:xfrm>
            <a:off x="599458" y="2704592"/>
            <a:ext cx="2264980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latin typeface="Futura Bk BT" panose="020B0502020204020303"/>
              </a:rPr>
              <a:t>	Praticamente todo sistema operacional em uso hoje — em computadores, celulares ou servidores — descende, direta ou indiretamente, de duas famílias criadas entre o fim dos anos 1960 e o início dos anos 1980: o Unix e o MS-DOS. Conhecer essa origem ajuda a entender por que Linux, </a:t>
            </a:r>
            <a:r>
              <a:rPr lang="pt-BR" dirty="0" err="1">
                <a:latin typeface="Futura Bk BT" panose="020B0502020204020303"/>
              </a:rPr>
              <a:t>macOS</a:t>
            </a:r>
            <a:r>
              <a:rPr lang="pt-BR" dirty="0">
                <a:latin typeface="Futura Bk BT" panose="020B0502020204020303"/>
              </a:rPr>
              <a:t>, Android e iOS compartilham tantos conceitos (usuários, permissões, terminal), enquanto o Windows segue uma linhagem própria</a:t>
            </a:r>
            <a:r>
              <a:rPr lang="pt-BR" dirty="0">
                <a:latin typeface="Futura Bk BT" panose="020B0502020204020303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Unix (1969) — 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criado nos Laboratórios Bell por Ken Thompson e Dennis Ritchie, o Unix introduziu ideias que até hoje sustentam a computação: um sistema multiusuário e multitarefa, escrito na então nova linguagem C (o que permitiu portá-lo para praticamente qualquer hardware) e organizado como um conjunto de pequenos programas especializados que se combinam entre si. Por licenciar seu código a universidades e empresas, o Unix deu origem a diversas variantes —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SunOS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/Solaris, HP-UX, AIX, BSD — e se tornou o ancestral comum de boa parte dos sistemas operacionais atuais.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13744DA-F77E-59E7-D4DB-F3D9993D375A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8A4F63D6-FFA9-0CD2-13C1-9E2522D4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99B00BAC-4C31-0075-0D28-800CF2E6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775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643B-2B16-B721-4DEF-EFD01224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66D61B-907F-7A33-EE87-7ED5E67D5473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71D5F58-739E-0162-D2F3-E6AFB423468C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DDC7A73A-E8CF-AA87-CBB7-87A7737F2A6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Principais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7522D68A-4D5C-209D-775D-77660E6F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99A1007D-738B-D2C9-FA16-5F6FCCD4E942}"/>
              </a:ext>
            </a:extLst>
          </p:cNvPr>
          <p:cNvSpPr txBox="1"/>
          <p:nvPr/>
        </p:nvSpPr>
        <p:spPr>
          <a:xfrm>
            <a:off x="599458" y="2704592"/>
            <a:ext cx="22649809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e suas distribuições (1991)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— em 1991, o estudante finlandês Linus Torvalds publicou o núcleo (kernel) de um sistema Unix-like que batizou de Linux, combinado às ferramentas do projeto GNU (iniciado por Richard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Stallman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em 1983) para formar um sistema operacional livre e de código aberto completo. Como o código-fonte é aberto, diferentes comunidades e empresas passaram a empacotar esse kernel com seus próprios aplicativos, gerenciador de pacotes e interface gráfica, dando origem às distribuições (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distros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 — entre as mais conhecidas: Ubuntu e Debian (uso geral, focadas em facilidade), Fedora e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Hat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/RHEL (voltadas a servidores corporativos), Arch e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Manjaro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(customização avançada) e Linux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Mint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(voltada a iniciantes). O Linux hoje domina servidores, super­computadores e é a base do Android.</a:t>
            </a:r>
          </a:p>
          <a:p>
            <a:pPr algn="just"/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Família Windows (1985)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— a Microsoft lançou o MS-DOS em 1981 (sistema em modo texto) e, em 1985, o Windows 1.0 como uma interface gráfica rodando sobre ele. Essa linha evoluiu até o Windows 95/98/Me, ainda apoiada no DOS. Paralelamente, a Microsoft desenvolveu o núcleo Windows NT (1993), mais estável e seguro, que deu origem ao Windows 2000, XP, Vista, 7, 8, 10 e 11 — todos baseados nesse mesmo núcleo NT. O Windows é hoje o sistema operacional mais usado em computadores pessoais, reconhecido pela ampla compatibilidade com aplicativos e fabricantes de hardware. É sobre ele que esta apostila se aprofunda a partir daqui.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D1D9D99-0F8C-CD5B-C517-A90B15BD8AFE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5D04D8FC-2426-A010-4D3F-AEBF6415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CDD9A03D-C0FF-EF35-15AC-75CD9B9A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24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4B37-0776-ED28-CBEA-F58FAC27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9A144A-F054-81E9-B32C-01101F300B1D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C56CD43-ECAA-F019-92D4-9562C1DEC7A8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34D41FCA-758E-9D5A-3E91-02B0E9336A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Principais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C6522266-7A47-EDB5-10E7-60220CB41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F285106D-689F-A59A-7F16-1DAE11DD5BC9}"/>
              </a:ext>
            </a:extLst>
          </p:cNvPr>
          <p:cNvSpPr txBox="1"/>
          <p:nvPr/>
        </p:nvSpPr>
        <p:spPr>
          <a:xfrm>
            <a:off x="599458" y="2704592"/>
            <a:ext cx="22649809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macOS</a:t>
            </a: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(1984 / 2001)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— a Apple lançou o Mac OS original em 1984 junto com o primeiro Macintosh, um dos pioneiros em interface gráfica para o público geral. Em 2001, a empresa substituiu essa base por um sistema totalmente novo, o Mac OS X (hoje chamado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macOS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construído sobre o Darwin — um núcleo derivado do Unix (BSD) — herdado da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empresa de Steve Jobs adquirida pela Apple em 1997. Por isso, apesar da interface própria, o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macOS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é, por baixo, um sistema Unix.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(2008) 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— desenvolvido pela Android Inc. e adquirido pelo Google em 2005, o Android é construído sobre o kernel Linux, com uma camada própria voltada a dispositivos móveis. Lançado comercialmente em 2008, tornou-se o sistema operacional mais usado do mundo em número de dispositivos, sendo majoritariamente de código aberto (projeto AOSP) e adotado por diversos fabricantes (Samsung, Xiaomi, Motorola etc.).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iOS (2007) 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— apresentado pela Apple junto com o primeiro iPhone, em 2007, o iOS é derivado do mesmo núcleo Darwin do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macOS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adaptado para telas sensíveis ao toque. Diferentemente do Android, é um sistema fechado, disponível apenas em aparelhos da própria Apple (iPhone e iPad, este último rodando o </a:t>
            </a:r>
            <a:r>
              <a:rPr lang="pt-BR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iPadOS</a:t>
            </a:r>
            <a:r>
              <a:rPr lang="pt-BR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um ramo do iOS).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6B4D1775-119A-9FBD-1789-742A5ED5486C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B1681BC1-FBC5-B556-FF73-838E1A22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0DBEBD68-6633-36E6-97FE-363EF500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781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6AABE-6DFA-0EDA-C0E3-65935EFE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82C435-17FC-2215-8EC1-7852AD4EF640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51E2A34-9202-86BD-2917-316D86348A96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B4A3C8E-7322-ED8E-FFAC-F0FB7C3564B3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Principais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Sistemas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Operacionais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A0DF288-8089-D002-48EA-1624506EF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E6A8883C-E375-A521-5837-926BC325A6AF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27C9CA95-608D-CDAF-C7EA-D35F8EAF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9CA27325-B632-1CF0-7B2B-FC72EB35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F069C6A-CB15-95E0-1EEE-F7D7C1DB1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675302"/>
              </p:ext>
            </p:extLst>
          </p:nvPr>
        </p:nvGraphicFramePr>
        <p:xfrm>
          <a:off x="1276350" y="2564158"/>
          <a:ext cx="21831300" cy="99309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57825">
                  <a:extLst>
                    <a:ext uri="{9D8B030D-6E8A-4147-A177-3AD203B41FA5}">
                      <a16:colId xmlns:a16="http://schemas.microsoft.com/office/drawing/2014/main" val="1099580722"/>
                    </a:ext>
                  </a:extLst>
                </a:gridCol>
                <a:gridCol w="5457825">
                  <a:extLst>
                    <a:ext uri="{9D8B030D-6E8A-4147-A177-3AD203B41FA5}">
                      <a16:colId xmlns:a16="http://schemas.microsoft.com/office/drawing/2014/main" val="251577237"/>
                    </a:ext>
                  </a:extLst>
                </a:gridCol>
                <a:gridCol w="5457825">
                  <a:extLst>
                    <a:ext uri="{9D8B030D-6E8A-4147-A177-3AD203B41FA5}">
                      <a16:colId xmlns:a16="http://schemas.microsoft.com/office/drawing/2014/main" val="3749641916"/>
                    </a:ext>
                  </a:extLst>
                </a:gridCol>
                <a:gridCol w="5457825">
                  <a:extLst>
                    <a:ext uri="{9D8B030D-6E8A-4147-A177-3AD203B41FA5}">
                      <a16:colId xmlns:a16="http://schemas.microsoft.com/office/drawing/2014/main" val="2049390309"/>
                    </a:ext>
                  </a:extLst>
                </a:gridCol>
              </a:tblGrid>
              <a:tr h="1418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i="0">
                          <a:solidFill>
                            <a:srgbClr val="F4F5F7"/>
                          </a:solidFill>
                          <a:effectLst/>
                          <a:latin typeface="IBM Plex Mono" panose="020B0509050203000203" pitchFamily="49" charset="0"/>
                        </a:rPr>
                        <a:t>Sistema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i="0">
                          <a:solidFill>
                            <a:srgbClr val="F4F5F7"/>
                          </a:solidFill>
                          <a:effectLst/>
                          <a:latin typeface="IBM Plex Sans" panose="020B0503050203000203" pitchFamily="34" charset="0"/>
                        </a:rPr>
                        <a:t>Origem / núcleo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i="0">
                          <a:solidFill>
                            <a:srgbClr val="F4F5F7"/>
                          </a:solidFill>
                          <a:effectLst/>
                          <a:latin typeface="IBM Plex Sans" panose="020B0503050203000203" pitchFamily="34" charset="0"/>
                        </a:rPr>
                        <a:t>Lançamento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i="0" dirty="0">
                          <a:solidFill>
                            <a:srgbClr val="F4F5F7"/>
                          </a:solidFill>
                          <a:effectLst/>
                          <a:latin typeface="IBM Plex Sans" panose="020B0503050203000203" pitchFamily="34" charset="0"/>
                        </a:rPr>
                        <a:t>Licença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572197"/>
                  </a:ext>
                </a:extLst>
              </a:tr>
              <a:tr h="1418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 i="0">
                          <a:solidFill>
                            <a:srgbClr val="1B1F27"/>
                          </a:solidFill>
                          <a:effectLst/>
                          <a:latin typeface="IBM Plex Mono" panose="020B0509050203000203" pitchFamily="49" charset="0"/>
                        </a:rPr>
                        <a:t>Unix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Criado do zero (Bell 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1969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Proprietária (variantes diversas)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020442"/>
                  </a:ext>
                </a:extLst>
              </a:tr>
              <a:tr h="1418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 i="0">
                          <a:solidFill>
                            <a:srgbClr val="1B1F27"/>
                          </a:solidFill>
                          <a:effectLst/>
                          <a:latin typeface="IBM Plex Mono" panose="020B0509050203000203" pitchFamily="49" charset="0"/>
                        </a:rPr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Unix-like (kernel próprio) + GNU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Código aberto (GPL)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883478"/>
                  </a:ext>
                </a:extLst>
              </a:tr>
              <a:tr h="1418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 i="0" dirty="0">
                          <a:solidFill>
                            <a:srgbClr val="1B1F27"/>
                          </a:solidFill>
                          <a:effectLst/>
                          <a:latin typeface="IBM Plex Mono" panose="020B0509050203000203" pitchFamily="49" charset="0"/>
                        </a:rPr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MS-DOS → núcleo Windows 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1985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Proprietária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26720"/>
                  </a:ext>
                </a:extLst>
              </a:tr>
              <a:tr h="1418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 i="0">
                          <a:solidFill>
                            <a:srgbClr val="1B1F27"/>
                          </a:solidFill>
                          <a:effectLst/>
                          <a:latin typeface="IBM Plex Mono" panose="020B0509050203000203" pitchFamily="49" charset="0"/>
                        </a:rPr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Darwin (derivado de BSD/Unix)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1984 / 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Proprietária (núcleo parcialmente aberto)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06354"/>
                  </a:ext>
                </a:extLst>
              </a:tr>
              <a:tr h="1418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 i="0">
                          <a:solidFill>
                            <a:srgbClr val="1B1F27"/>
                          </a:solidFill>
                          <a:effectLst/>
                          <a:latin typeface="IBM Plex Mono" panose="020B0509050203000203" pitchFamily="49" charset="0"/>
                        </a:rPr>
                        <a:t>Android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Kernel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Código aberto (AOSP)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630062"/>
                  </a:ext>
                </a:extLst>
              </a:tr>
              <a:tr h="1418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 i="0">
                          <a:solidFill>
                            <a:srgbClr val="1B1F27"/>
                          </a:solidFill>
                          <a:effectLst/>
                          <a:latin typeface="IBM Plex Mono" panose="020B0509050203000203" pitchFamily="49" charset="0"/>
                        </a:rPr>
                        <a:t>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Darwin (mesma base do macOS)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b="0" i="0" dirty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0" i="0" dirty="0">
                          <a:solidFill>
                            <a:srgbClr val="1B1F27"/>
                          </a:solidFill>
                          <a:effectLst/>
                          <a:latin typeface="IBM Plex Sans" panose="020B0503050203000203" pitchFamily="34" charset="0"/>
                        </a:rPr>
                        <a:t>Proprietária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227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927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Família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279904" y="11514997"/>
            <a:ext cx="451654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Windows Logo: valor, história, PNG">
            <a:extLst>
              <a:ext uri="{FF2B5EF4-FFF2-40B4-BE49-F238E27FC236}">
                <a16:creationId xmlns:a16="http://schemas.microsoft.com/office/drawing/2014/main" id="{55F49C3A-10D9-79A6-BC5A-5C892BEAE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833" y="3091487"/>
            <a:ext cx="10921167" cy="914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2733020" y="3379701"/>
            <a:ext cx="11093768" cy="803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Família Windows</a:t>
            </a:r>
          </a:p>
          <a:p>
            <a:pPr algn="ctr"/>
            <a:endParaRPr lang="pt-BR" sz="48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48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o SO mais utilizado? </a:t>
            </a:r>
          </a:p>
          <a:p>
            <a:endParaRPr lang="pt-BR" sz="48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48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o SO utilizado em todos segmentos?</a:t>
            </a:r>
          </a:p>
          <a:p>
            <a:endParaRPr lang="pt-BR" sz="48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48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o mais amigável e compatível com aplicativos e diversos fabricantes?</a:t>
            </a:r>
            <a:endParaRPr lang="pt-BR" sz="4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pt-BR" sz="36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A3A60942-8706-3FD9-B7F6-B4BD4564AF2A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8814CC72-498D-623D-FB56-60E7A446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6E5D5F70-79F4-4EC6-16FB-3CBBF045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50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Conhecendo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melhor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9671258" y="4158793"/>
            <a:ext cx="1362400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 de arquivos e extensão de arquivos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Explorador de Arquivos</a:t>
            </a:r>
          </a:p>
          <a:p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Tecla Windows e Teclas de Atalho</a:t>
            </a: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Gerenciador de Tarefas</a:t>
            </a:r>
          </a:p>
          <a:p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Linha de Comando (Prompt -</a:t>
            </a:r>
            <a:r>
              <a:rPr lang="pt-BR" sz="44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PowerShell</a:t>
            </a: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FF22456-58DB-BA40-1476-1856C7C0C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13" y="3713455"/>
            <a:ext cx="7766384" cy="775409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4F23E2C-AE94-F1A5-A887-F708995B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AA64D8C-AAD1-5ABA-20E8-3A30EC5A0626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71A635C1-5B34-7203-E395-66D28896120D}"/>
              </a:ext>
            </a:extLst>
          </p:cNvPr>
          <p:cNvSpPr txBox="1">
            <a:spLocks/>
          </p:cNvSpPr>
          <p:nvPr/>
        </p:nvSpPr>
        <p:spPr>
          <a:xfrm>
            <a:off x="18530047" y="12957509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6DDA3C2F-CD74-40BF-A727-C074FA25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17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599458" y="2704592"/>
            <a:ext cx="2130422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uma estrutura ou método que define como os dados são armazenados, organizados, acessados e manipulados em um dispositivo de armazenamento, como um disco rígido, SSD, pen drive ou qualquer outro meio de armazenamento persistente. </a:t>
            </a: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endParaRPr lang="pt-BR" sz="40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 sistema de arquivos é essencial para que o sistema operacional possa localizar e gerenciar arquivos e diretórios, garantindo que os dados sejam lidos, escritos e organizados corretamente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8" name="Picture 4" descr="GRADE 9: Lesson 2- Tree Directory Structure – SCHS Information Technology  Blog">
            <a:extLst>
              <a:ext uri="{FF2B5EF4-FFF2-40B4-BE49-F238E27FC236}">
                <a16:creationId xmlns:a16="http://schemas.microsoft.com/office/drawing/2014/main" id="{613397B9-7ACF-ECEF-913A-F0738B2F9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17" y="8156817"/>
            <a:ext cx="5923935" cy="444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rstanding the Linux File System | Cisco ASA and PIX Firewall Handbook">
            <a:extLst>
              <a:ext uri="{FF2B5EF4-FFF2-40B4-BE49-F238E27FC236}">
                <a16:creationId xmlns:a16="http://schemas.microsoft.com/office/drawing/2014/main" id="{22D598D7-1BD3-2C45-05FC-9605A47A8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9637" y="7431055"/>
            <a:ext cx="6214009" cy="517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56010E9-0913-FD72-7433-A067CF709664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1FB82063-B4F1-7708-6CD0-CDD37EAC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A5ACF64E-9327-11BA-6E8E-878C820B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0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ACE0-B548-0B1B-7DEA-768BF451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F6299B-1F6E-4B14-522B-819861643498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C373873-C0C4-32DC-E4F3-812829A29E2C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D05A71E6-1199-D1C6-77B6-9823180AA107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B2575F5B-C390-56A6-1CC5-6D18B6F0F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DE77267-5E8C-8AEA-05B0-CA6EFCF2D9A2}"/>
              </a:ext>
            </a:extLst>
          </p:cNvPr>
          <p:cNvSpPr txBox="1"/>
          <p:nvPr/>
        </p:nvSpPr>
        <p:spPr>
          <a:xfrm>
            <a:off x="599458" y="2557418"/>
            <a:ext cx="23227330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Futura Bk BT" panose="020B0502020204020303"/>
              </a:rPr>
              <a:t>Principais Funções de um Sistema de Arquivos</a:t>
            </a:r>
          </a:p>
          <a:p>
            <a:endParaRPr lang="pt-BR" sz="3200" b="1" dirty="0">
              <a:latin typeface="Futura Bk BT" panose="020B0502020204020303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Futura Bk BT" panose="020B0502020204020303"/>
              </a:rPr>
              <a:t>Organização de Dados</a:t>
            </a:r>
          </a:p>
          <a:p>
            <a:pPr marL="2286000" lvl="2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Futura Bk BT" panose="020B0502020204020303"/>
              </a:rPr>
              <a:t>Organiza dados em uma hierarquia de arquivos e diretórios, permitindo que os dados sejam armazenados em locais específicos e que os usuários e o sistema possam encontrá-los facilmente.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Futura Bk BT" panose="020B0502020204020303"/>
              </a:rPr>
              <a:t>Gestão de Armazenamento</a:t>
            </a:r>
          </a:p>
          <a:p>
            <a:pPr marL="2286000" lvl="2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Futura Bk BT" panose="020B0502020204020303"/>
              </a:rPr>
              <a:t>Rastreia quais partes do dispositivo de armazenamento estão ocupadas, quais estão livres e onde os arquivos e diretórios estão fisicamente localizados.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Futura Bk BT" panose="020B0502020204020303"/>
              </a:rPr>
              <a:t>Controle de Acesso</a:t>
            </a:r>
          </a:p>
          <a:p>
            <a:pPr marL="2286000" lvl="2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Futura Bk BT" panose="020B0502020204020303"/>
              </a:rPr>
              <a:t>Controla o acesso a arquivos e diretórios, definindo permissões (leitura, escrita, execução) para garantir a segurança dos dados.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Futura Bk BT" panose="020B0502020204020303"/>
              </a:rPr>
              <a:t>Integridade de Dados</a:t>
            </a:r>
          </a:p>
          <a:p>
            <a:pPr marL="2286000" lvl="2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Futura Bk BT" panose="020B0502020204020303"/>
              </a:rPr>
              <a:t>Inclui recursos para proteger os dados contra corrupção e perdas, usando métodos como </a:t>
            </a:r>
            <a:r>
              <a:rPr lang="pt-BR" sz="3200" dirty="0" err="1">
                <a:latin typeface="Futura Bk BT" panose="020B0502020204020303"/>
              </a:rPr>
              <a:t>journaling</a:t>
            </a:r>
            <a:r>
              <a:rPr lang="pt-BR" sz="3200" dirty="0">
                <a:latin typeface="Futura Bk BT" panose="020B0502020204020303"/>
              </a:rPr>
              <a:t>, redundância e outros mecanismos que ajudam a manter a integridade dos arquivos, mesmo em caso de falhas.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Futura Bk BT" panose="020B0502020204020303"/>
              </a:rPr>
              <a:t>Compatibilidade e Portabilidade</a:t>
            </a:r>
          </a:p>
          <a:p>
            <a:pPr marL="2286000" lvl="2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Futura Bk BT" panose="020B0502020204020303"/>
              </a:rPr>
              <a:t>Define como os dados são organizados de forma que possam ser lidos e interpretados corretamente pelo sistema operacional e, em alguns casos, por outros sistemas, facilitando o compartilhamento de dados entre diferentes dispositivos e sistemas operacionais.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34CB90C-7CD5-6FA5-D61D-CFDA2C15D84B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BCE38583-07F6-7E0B-D868-4B2B7A21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725977C4-2D52-D406-95C1-594EA449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02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9258-8655-C311-9203-AF1640B07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328DC3-6C4F-9772-07E0-55129ACFA810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A44F1AA-E6FF-B7DD-4140-6C40D39B7C9A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F0713EB-DC88-C9DF-E696-E81F7F226C61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386768B7-E06B-A17F-4551-8E864EA33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38ED988-0906-A532-932D-4DC60D171BBC}"/>
              </a:ext>
            </a:extLst>
          </p:cNvPr>
          <p:cNvSpPr txBox="1"/>
          <p:nvPr/>
        </p:nvSpPr>
        <p:spPr>
          <a:xfrm>
            <a:off x="599458" y="2521775"/>
            <a:ext cx="213042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9A71876-B90C-3BF6-FFD8-61E6F965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682" y="2943391"/>
            <a:ext cx="21304224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	No Windows, a estrutura de diretórios é organizada de maneira hierárquica, com uma pasta raiz para cada unidade de disco, geralmente iniciando em C: (para o disco principal).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3200" dirty="0">
              <a:latin typeface="Futura Bk BT" panose="020B050202020402030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Abaixo, os diretórios principais de um sistema Windows típico: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	Diretórios Principais do Windows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22860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 raiz da unidade onde o sistema operacional está instalado (geralmente o C:).</a:t>
            </a:r>
          </a:p>
          <a:p>
            <a:pPr marL="2286000"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C:\Windows</a:t>
            </a:r>
          </a:p>
          <a:p>
            <a:pPr marL="22860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Contém os arquivos principais do sistema operacional Windows, como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DLLs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, drivers e executáveis essenciais.</a:t>
            </a:r>
          </a:p>
          <a:p>
            <a:pPr marL="22860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C:\Program Files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 e 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C:\Program Files (x86)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22860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C:\Program Files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Usado para armazenar programas de 64 bits.</a:t>
            </a:r>
          </a:p>
          <a:p>
            <a:pPr marL="22860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C:\Program Files (x86)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Usado para armazenar programas de 32 bits em sistemas operacionais de 64 bits.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3346098-AF2E-A76D-1875-75083D88F3C7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2D270D0B-12A7-6CF1-D6B5-64566BBC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06E65E23-63FB-5FB5-AEE1-6F17442F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6E0AD-3786-6301-63D1-5AE27814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9A4ABB-9E3A-4D80-7AA2-8FA9CD06DE7B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6254098-63B4-83E6-2CFF-D11904D7C3F5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3FA5FAD-07F1-1F53-7ACF-69C2AA9DFF22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DF99A28F-2176-B030-AA85-80A83218E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DAC1F63-A600-30AD-0D31-3B8B3E808B81}"/>
              </a:ext>
            </a:extLst>
          </p:cNvPr>
          <p:cNvSpPr txBox="1"/>
          <p:nvPr/>
        </p:nvSpPr>
        <p:spPr>
          <a:xfrm>
            <a:off x="599458" y="2521775"/>
            <a:ext cx="213042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9A2B775-8C6C-38DB-7FFF-580056A47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029" y="2329414"/>
            <a:ext cx="21816271" cy="874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Diretórios Principais do Windows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C:\Users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Armazena as pastas de perfil dos usuários. Cada usuário do sistema tem uma pasta exclusiva aqui, onde ficam arquivos pessoais e configurações específicas.</a:t>
            </a: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Dentro da pasta de cada usuário, há subpastas comuns, como:</a:t>
            </a:r>
          </a:p>
          <a:p>
            <a:pPr marL="18288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Desktop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Contém os arquivos e atalhos exibidos na área de trabalho.</a:t>
            </a:r>
          </a:p>
          <a:p>
            <a:pPr marL="18288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Documents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Pasta padrão para documentos.</a:t>
            </a:r>
          </a:p>
          <a:p>
            <a:pPr marL="18288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Downloads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Pasta onde ficam os downloads.</a:t>
            </a:r>
          </a:p>
          <a:p>
            <a:pPr marL="18288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Pictures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Pasta para imagens.</a:t>
            </a:r>
          </a:p>
          <a:p>
            <a:pPr marL="1828800"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Music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 e 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Videos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Pastas padrão para arquivos de áudio e vídeo.</a:t>
            </a:r>
          </a:p>
          <a:p>
            <a:pPr marL="1828800"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C:\ProgramData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Armazena dados de aplicativos compartilhados entre usuários. Ao contrário da pasta C:\Users, é uma pasta oculta e é usada por programas que precisam armazenar dados de configuração acessíveis a todos os usuários do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F486A04-A623-8B62-F62D-63E9273741CF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09531AB3-12D7-D6BC-0DAA-A433CD5D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6EDC704A-9896-72BE-CCBE-1C6F5149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16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00BD5-E5E1-549D-D522-B53DF2CB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0F5E1C-82CE-7EA2-2033-4B25832F5FFD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12A59A0-5931-60D1-AA41-A47E8C3C746D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A8B47A7-DBD0-01F7-D31E-D76361C28F9D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7BA396B1-EB44-FF96-AC44-AF0887FDB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F0983EA-E0F6-EF7B-8AE7-4253080D6DB1}"/>
              </a:ext>
            </a:extLst>
          </p:cNvPr>
          <p:cNvSpPr txBox="1"/>
          <p:nvPr/>
        </p:nvSpPr>
        <p:spPr>
          <a:xfrm>
            <a:off x="599458" y="2521775"/>
            <a:ext cx="213042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6BE54A-D7FD-E04E-55C4-D0371F4E7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029" y="3314299"/>
            <a:ext cx="21816271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Diretórios Principais do Windows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C:\Windows\System32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Subpasta de C:\Windows que contém arquivos críticos do sistema, incluindo drivers, bibliotecas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DLLs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) e executáveis essenciais para o funcionamento do sistema.</a:t>
            </a: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C:\Temp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 ou 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C:\Windows\Temp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Contém arquivos temporários que o sistema ou programas podem criar e descartar. Usado geralmente para dados temporários e pode ser limpo periodicamente.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C:\Recycle.Bin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 que armazena os arquivos deletados temporariamente antes de serem excluídos permanentemente do sistema. É a "Lixeira" do Windows.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C5DAA08-A636-6B6D-B48C-245D5DF03FB7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07437058-93FA-0F8B-A557-42550C25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422B1B8D-BAFC-8820-A847-029E994D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02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DA57-0C95-CE1A-C8C5-C6FA62D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95EB2C-A350-6FA7-12AD-91C6455DBC6C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1F1775F-2F15-0119-E559-BAB0A781451F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7E874AED-B001-7A33-AAAE-47DF8EE4C3A3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Linux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B2AC0E98-F1AF-2992-D3D9-AE16C3EFF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905E441-955B-6E3D-A4BA-4185167FAC4B}"/>
              </a:ext>
            </a:extLst>
          </p:cNvPr>
          <p:cNvSpPr txBox="1"/>
          <p:nvPr/>
        </p:nvSpPr>
        <p:spPr>
          <a:xfrm>
            <a:off x="599458" y="2521775"/>
            <a:ext cx="213042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5CB50F-8D8A-62B2-0F44-44573157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495" y="3443256"/>
            <a:ext cx="22817293" cy="84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A estrutura de diretórios no sistema Linux é organizada de forma hierárquica e estruturada, com um único diretório raiz (/) de onde todos os outros diretórios e subdiretórios partem.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3200" dirty="0">
              <a:latin typeface="Futura Bk BT" panose="020B050202020402030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Essa organização segue o padrão 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Filesystem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 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Hierarchy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 Standard (FHS)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, permitindo que diferentes distribuições tenham uma estrutura consistente.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Diretórios Principais do Linux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 (Raiz)</a:t>
            </a: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 raiz de todo o sistema de arquivos. Todos os outros diretórios são montados a partir daqui.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/bin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Contém comandos essenciais do sistema que estão disponíveis para todos os usuários, como comandos básicos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ls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,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cp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,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mv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), geralmente necessários para inicializar o sistema e realizar operações básicas.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/boot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Armazena os arquivos de inicialização do sistema, incluindo o kernel e o gerenciador de inicialização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bootloader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) como o GRUB. É necessário para carregar o sistema operacional.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6FC8EE-FE25-791E-1D02-A066995AC518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C984DD0D-D447-F9B3-2B67-3E062E40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63E04325-D864-F510-ED13-008774D2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2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42059-1D33-DAD0-54AC-E49D7B22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62C7DE-7515-470D-55C5-AEEEC97CC0A8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E360701-A5CF-71B3-8341-C2AA130B2573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012475CF-EE4B-14FE-9323-5ABAF9A2A22C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Linux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89EBF5B6-2576-D64E-0781-39C05C474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7F54E6F-2105-C200-E61F-DD885B395B08}"/>
              </a:ext>
            </a:extLst>
          </p:cNvPr>
          <p:cNvSpPr txBox="1"/>
          <p:nvPr/>
        </p:nvSpPr>
        <p:spPr>
          <a:xfrm>
            <a:off x="599458" y="2521775"/>
            <a:ext cx="213042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AF48FD-4AF8-EE38-838C-A33E9C0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495" y="2405862"/>
            <a:ext cx="22817293" cy="9448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Diretórios Principais do Linux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3200" dirty="0">
              <a:latin typeface="Futura Bk BT" panose="020B0502020204020303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etc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 de configuração do sistema. Armazena arquivos de configuração global, scripts de inicialização e configurações para diversos serviços e aplicativos.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/home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 de usuários. Cada usuário tem sua própria pasta dentro de /home, onde ficam seus arquivos e configurações pessoais.</a:t>
            </a: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Exemplo: /home/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usuario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/tmp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Diretório temporário para armazenamento de arquivos temporários que podem ser criados e removidos conforme necessário. É limpo periodicamente.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usr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utura Bk BT" panose="020B0502020204020303"/>
            </a:endParaRPr>
          </a:p>
          <a:p>
            <a:pPr marL="1371600"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Contém programas e bibliotecas adicionais de usuários e do sistema. É dividido em subdiretórios, como:</a:t>
            </a:r>
          </a:p>
          <a:p>
            <a:pPr marL="2743200" lvl="4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usr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/bin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Executáveis adicionais.</a:t>
            </a:r>
          </a:p>
          <a:p>
            <a:pPr marL="2743200" lvl="4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usr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lib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Bibliotecas associadas a programas.</a:t>
            </a:r>
          </a:p>
          <a:p>
            <a:pPr marL="2743200" lvl="4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usr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share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Arquivos compartilhados, como documentos e ícones.</a:t>
            </a:r>
          </a:p>
          <a:p>
            <a:pPr marL="2743200" lvl="4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usr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/local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Bk BT" panose="020B0502020204020303"/>
              </a:rPr>
              <a:t>: Para programas instalados localmente pelo administrador, sem interferir nos programas do sistema.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08C325-796E-B997-C577-815D0943F97E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8C9EC04A-C9C2-316F-8A98-BCF5C6F9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9BBDCFF7-FBB6-901C-76F8-9C778F6A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45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E89E-10A2-3CF8-256A-9C9F8AEE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38989C-896E-BA34-33AD-EC885691883C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2FAD238-FEEC-37EE-45C4-8479813976F3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B0892AEF-1656-351D-2B64-3EF75DB1DA4B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B59C6508-7DEA-653C-3FCE-0BACDAEC6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993C0EF-E3C4-DF8C-890E-F587F2FC1941}"/>
              </a:ext>
            </a:extLst>
          </p:cNvPr>
          <p:cNvSpPr txBox="1"/>
          <p:nvPr/>
        </p:nvSpPr>
        <p:spPr>
          <a:xfrm>
            <a:off x="599458" y="2557418"/>
            <a:ext cx="21304224" cy="904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pt-BR" sz="5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Tipos de Sistemas de Arquivos no Windows: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FAT (File 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Allocation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FAT32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NTFS (New Technology File System)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85900" lvl="1" indent="-571500">
              <a:buFont typeface="Wingdings" panose="05000000000000000000" pitchFamily="2" charset="2"/>
              <a:buChar char="v"/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 (File </a:t>
            </a:r>
            <a:r>
              <a:rPr lang="pt-BR" sz="40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Allocation</a:t>
            </a: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sz="40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</a:t>
            </a: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):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Desenvolvido para suceder o sistema de arquivos usado no MS-DOS.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Simples, mas limitado em recursos.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Utilizado principalmente em dispositivos mais antigos e dispositivos portáteis.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85900" lvl="1" indent="-571500">
              <a:buFont typeface="Wingdings" panose="05000000000000000000" pitchFamily="2" charset="2"/>
              <a:buChar char="v"/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FAT32: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Uma versão melhorada do FAT.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Suporta tamanhos maiores de disco e arquivos.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Ainda é utilizado em dispositivos USB e cartões de memória.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27E303E-1D28-E935-E9CF-796938D12712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3D0C538E-30BD-9BC4-C00B-151A8BB6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9505F6AE-C9EC-8DF4-463D-3ACE56806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599458" y="2557418"/>
            <a:ext cx="23224248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1" indent="-571500">
              <a:buFont typeface="Wingdings" panose="05000000000000000000" pitchFamily="2" charset="2"/>
              <a:buChar char="v"/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NTFS (New Technology File System):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Introduzido no Windows NT.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Oferece recursos avançados de segurança, como permissões de arquivos e criptografia.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Suporta arquivos de até 16 TB.</a:t>
            </a:r>
          </a:p>
          <a:p>
            <a:pPr marL="2286000" lvl="2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Jornalização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 maior integridade dos dados.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Características do NTFS</a:t>
            </a:r>
          </a:p>
          <a:p>
            <a:pPr lvl="1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Segurança:</a:t>
            </a:r>
          </a:p>
          <a:p>
            <a:pPr marL="4114800" lvl="4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Permissões de arquivos e pastas.</a:t>
            </a:r>
          </a:p>
          <a:p>
            <a:pPr marL="4114800" lvl="4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Criptografia de arquivos.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Jornalização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114800" lvl="4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Registro de mudanças antes de aplicá-las, garantindo integridade.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Compressão de Dados:</a:t>
            </a:r>
          </a:p>
          <a:p>
            <a:pPr marL="4114800" lvl="4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Capacidade de comprimir arquivos para economizar espaço.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Recuperação de Erros:</a:t>
            </a:r>
          </a:p>
          <a:p>
            <a:pPr marL="4114800" lvl="4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Capacidade de detectar e corrigir erros automaticamente.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B1508B-81B0-6F30-8F18-8F2994AC609E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8" name="Espaço Reservado para Número de Slide 1">
            <a:extLst>
              <a:ext uri="{FF2B5EF4-FFF2-40B4-BE49-F238E27FC236}">
                <a16:creationId xmlns:a16="http://schemas.microsoft.com/office/drawing/2014/main" id="{D886ADA3-DC19-6956-D78A-485925FA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Espaço Reservado para Rodapé 2">
            <a:extLst>
              <a:ext uri="{FF2B5EF4-FFF2-40B4-BE49-F238E27FC236}">
                <a16:creationId xmlns:a16="http://schemas.microsoft.com/office/drawing/2014/main" id="{E86C0A3F-4F1B-224C-D29F-E6B1E06E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91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387334" y="2923069"/>
            <a:ext cx="21304224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O Sistema de Arquivos do Windows é a estrutura organizacional que o sistema operacional utiliza para nomear, armazenar e recuperar arquivos em discos. Ele é fundamental para a organização e o gerenciamento de dados em computadores que operam com Windows. 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Estrutura Básica do Sistema de Arquivos NTFS:</a:t>
            </a:r>
          </a:p>
          <a:p>
            <a:pPr algn="l"/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Volume:</a:t>
            </a:r>
          </a:p>
          <a:p>
            <a:pPr marL="2286000" lvl="2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Um volume é uma unidade lógica que pode representar um disco físico completo, uma partição em um disco ou um disco lógico em um RAID.</a:t>
            </a:r>
          </a:p>
          <a:p>
            <a:pPr marL="2286000" lvl="2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Um volume NTFS é identificado por uma letra de unidade (por exemplo, C:, D:) seguida por um caminho para pastas.</a:t>
            </a:r>
          </a:p>
          <a:p>
            <a:pPr algn="l"/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 e Pastas:</a:t>
            </a:r>
          </a:p>
          <a:p>
            <a:pPr marL="2286000" lvl="2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Os arquivos são os elementos básicos de armazenamento de dados no sistema de arquivos.</a:t>
            </a:r>
          </a:p>
          <a:p>
            <a:pPr marL="2286000" lvl="2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 pastas (também conhecidas como diretórios) são usadas para organizar arquivos em uma hierarquia.</a:t>
            </a:r>
          </a:p>
          <a:p>
            <a:pPr marL="2286000" lvl="2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Cada arquivo tem um nome único e pode conter dados, como documentos, imagens, vídeos, programas, etc.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CEDF4E9-978F-23E6-7E30-2973A966E189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69B02C34-B450-DE1B-2B15-90CAD7DD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EB12A408-496E-430A-B06B-1AACA92C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36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387334" y="2923069"/>
            <a:ext cx="21304224" cy="94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Estrutura Básica do Sistema de Arquivos NTFS:</a:t>
            </a:r>
          </a:p>
          <a:p>
            <a:pPr algn="l"/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Caminhos: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Os caminhos são usados para localizar arquivos e pastas em um volume.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Um caminho consiste em uma lista de pastas separadas por barras invertidas (\).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 exemplo, C:\Users\nome_do_usuario\Documents\meuarquivo.txt.</a:t>
            </a:r>
          </a:p>
          <a:p>
            <a:pPr algn="l"/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Atributos de Arquivo: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Os arquivos no NTFS podem ter diferentes atributos: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Somente Leitura: Impede que o arquivo seja modificado.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 Oculto: Não é exibido em listagens normais de arquivos.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 de Sistema: Usado pelo sistema operacional e normalmente oculto.</a:t>
            </a:r>
          </a:p>
          <a:p>
            <a:pPr algn="l"/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Permissões de Arquivo: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 NTFS permite definir permissões de acesso em nível de arquivo e pasta.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Isso inclui permissões como leitura, gravação, execução e controle total.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permissões podem ser concedidas a usuários individuais ou grupos.</a:t>
            </a: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7CD7CE1-575F-1940-0A4F-7D8D2F58656F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B63B6ACA-391F-3C83-5875-470E3B58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771E459E-B25B-E840-C014-63ABFEBF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78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Nome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387334" y="2658376"/>
            <a:ext cx="21304224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No Windows, os nomes de arquivos seguem algumas regras específicas para garantir a compatibilidade e a consistência do sistema de arquivos. Aqui estão as principais regras de formação para nomes de arquivos no Windows:</a:t>
            </a: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Regras para Nomes de Arquivos: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Caracteres Permitidos:</a:t>
            </a:r>
          </a:p>
          <a:p>
            <a:pPr marL="1485900" lvl="1" indent="-5715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Os nomes de arquivos podem conter letras (maiúsculas e minúsculas), números, espaços e os seguintes caracteres especiais: ! # $ % &amp; ' ( ) - @ ^ _ ` { } ~</a:t>
            </a:r>
          </a:p>
          <a:p>
            <a:pPr marL="1485900" lvl="1" indent="-5715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Não são permitidos os seguintes caracteres: &lt; &gt; : " / \ | ? *</a:t>
            </a:r>
          </a:p>
          <a:p>
            <a:pPr algn="l"/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Comprimento do Nome: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 nome completo do arquivo (incluindo o caminho, se houver) não pode exceder 260 caracteres.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 nome do arquivo em si pode ter até 255 caracteres.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Espaços e Pontos: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 nome do arquivo pode conter espaços, mas não pode começar ou terminar com um espaço.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Pode conter pontos, mas não pode começar com um ponto.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Pode haver múltiplos pontos no nome, mas o sistema considera o último ponto como a extensão do arquivo.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D2ABE8A-22CC-4FA4-64B1-36636C3B56DA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8C95E672-0C8C-CC03-A993-7F9DBC49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E30363F5-5C48-A631-CB97-1924E1C3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23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Nome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006413" y="2171697"/>
            <a:ext cx="21304224" cy="1104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Regras para Nomes de Arquivos: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Letras Maiúsculas e Minúsculas: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Os nomes de arquivos no Windows não são sensíveis a maiúsculas e minúsculas.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Isso significa que "MeuArquivo.txt" e "meuarquivo.txt" são considerados o mesmo arquivo pelo sistema.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lvl="1" indent="-571500">
              <a:buFont typeface="Wingdings" panose="05000000000000000000" pitchFamily="2" charset="2"/>
              <a:buChar char="v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Palavras Reservadas: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Existem algumas palavras reservadas que não podem ser usadas como nomes de arquivos, pois são reservadas pelo sistema. Alguns exemplos são: CON, PRN, AUX, NUL, COM1, COM2, COM3, COM4, COM5, COM6, COM7, COM8, COM9, LPT1, LPT2, LPT3, LPT4, LPT5, LPT6, LPT7, LPT8, LPT9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Tentar criar um arquivo com um desses nomes resultará em um erro.</a:t>
            </a:r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Exemplos de Nomes de Arquivos Válidos: 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MeuArquivo.txt  Relatório2023.docx foto de férias.jpg projeto-final documento-importante-v2.doc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Exemplos de Nomes de Arquivos Inválidos: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relatório?2023.docx (uso do caractere ?)	meu arquivo.txt (espaço no início do nome)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relatório-final: (uso do caractere :) 		foto.jpg. (ponto no final do nome)</a:t>
            </a:r>
          </a:p>
          <a:p>
            <a:pPr marL="1371600" lvl="1" indent="-4572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CON.txt (palavra reservada)</a:t>
            </a:r>
          </a:p>
          <a:p>
            <a:b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7490425-042E-F866-B2A3-AD50C14A90F3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D5CD93E0-5EA4-D9D2-A542-AB7D82F1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883DE36B-1645-CEC5-B3A9-7755EA4A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09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Nome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006413" y="2171697"/>
            <a:ext cx="21304224" cy="96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extensão de arquivo no Windows (e em sistemas operacionais em geral) é uma parte do nome do arquivo que segue o último ponto (.) no nome do arquivo. Ela é usada para identificar o tipo de arquivo e o programa associado que deve ser usado para abrir ou executar esse arquivo. As extensões de arquivo são essenciais para o sistema operacional entender como lidar com diferentes tipos de arquivos.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Identificação do Tipo de Arquivo: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 extensão de arquivo fornece uma indicação ao sistema operacional sobre o tipo de conteúdo que o arquivo contém.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 exemplo, um arquivo com a extensão 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txt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é um arquivo de texto simples, enquanto um arquivo com a extensão 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docx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é um documento do Microsoft Word.</a:t>
            </a: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Associação de Programa: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extensões de arquivo são usadas para associar um tipo específico de arquivo a um programa que pode abrir ou manipular esse tipo de arquivo.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 exemplo, arquivos com extensão 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jpg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são associados ao visualizador de imagens padrão, arquivos 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docx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são associados ao Microsoft Word, etc.</a:t>
            </a: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4CDFC13-0595-F013-093B-4A3E740D2FC0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740BFECC-2F55-E2B2-D516-E7EDB330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959281EE-FC22-4C12-5E65-4091CDB0B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64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Nome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006413" y="2171697"/>
            <a:ext cx="21304224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Execução de Programas:</a:t>
            </a: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Algumas extensões de arquivo também são usadas para identificar arquivos executáveis, que são programas que podem ser executados pelo sistema operacional.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 exemplo, arquivos com extensão 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são programas executáveis no Windows.</a:t>
            </a:r>
          </a:p>
          <a:p>
            <a:pPr lvl="1"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Exemplos de Extensões de Arquivo Comuns: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txt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Arquivo de Texto simples.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docx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Documento do Microsoft Word.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xlsx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Planilha do Microsoft Excel.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jpg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Imagem no formato JPEG.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.mp3 - Arquivo de áudio no formato MP3.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.mp4 - Arquivo de vídeo no formato MP4.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pdf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Documento no formato PDF.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Arquivo executável no Windows.</a:t>
            </a:r>
          </a:p>
          <a:p>
            <a:pPr marL="1371600" lvl="1" indent="-4572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.zip - Arquivo compactado no formato ZIP.</a:t>
            </a:r>
          </a:p>
          <a:p>
            <a:pPr marL="571500" indent="-571500">
              <a:buFont typeface="Wingdings" panose="05000000000000000000" pitchFamily="2" charset="2"/>
              <a:buChar char="v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12D7E23-D5E4-8148-118E-A83DFE897F62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3B6A6BB2-CA42-D030-3F78-B27AB32C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ABC5B904-F82B-888B-7CE7-A56A5348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74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AAF2-B667-0028-459A-F19277479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764329-09FA-C928-2E16-813732E1AE1A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8291FBC-EC6E-A6A7-A27E-79B7B2D6B16F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6CD61D5A-A3A5-757C-43A0-09595A858378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Localização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um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(Path)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46C92F8F-04D3-52CB-8C3F-CC252945B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DD87BD1-72F8-E312-F544-EFB99F752E7E}"/>
              </a:ext>
            </a:extLst>
          </p:cNvPr>
          <p:cNvSpPr txBox="1"/>
          <p:nvPr/>
        </p:nvSpPr>
        <p:spPr>
          <a:xfrm>
            <a:off x="1006413" y="2171697"/>
            <a:ext cx="21304224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 sistema de arquivos de um sistema operacional, "caminho absoluto" e "caminho relativo" são formas diferentes de se referir à localização de um arquivo ou diretório dentro da estrutura de diretórios do sistema.</a:t>
            </a:r>
          </a:p>
          <a:p>
            <a:pPr marL="457200" indent="-457200" algn="just">
              <a:buFont typeface="Wingdings" panose="05000000000000000000" pitchFamily="2" charset="2"/>
              <a:buChar char="v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Caminho Absoluto</a:t>
            </a:r>
          </a:p>
          <a:p>
            <a:pPr marL="457200" indent="-457200" algn="just">
              <a:buFont typeface="Wingdings" panose="05000000000000000000" pitchFamily="2" charset="2"/>
              <a:buChar char="Ø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Um caminho absoluto é o caminho completo que leva diretamente ao arquivo ou diretório, começando do diretório raiz do sistema. Ele é específico e independente do local onde o usuário ou o programa está atualmente no sistema de arquivos.</a:t>
            </a: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endParaRPr lang="pt-BR" sz="32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0" lvl="2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sistemas Unix/Linux, o caminho absoluto começa com uma barra /, que indica o diretório raiz.</a:t>
            </a:r>
          </a:p>
          <a:p>
            <a:pPr marL="3200400" lvl="3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Exemplo: /home/</a:t>
            </a:r>
            <a:r>
              <a:rPr lang="pt-BR" sz="3200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</a:t>
            </a: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/documentos/arquivo.txt</a:t>
            </a:r>
          </a:p>
          <a:p>
            <a:pPr marL="3200400" lvl="3" indent="-457200" algn="just">
              <a:buFont typeface="Arial" panose="020B0604020202020204" pitchFamily="34" charset="0"/>
              <a:buChar char="•"/>
              <a:defRPr/>
            </a:pPr>
            <a:endParaRPr lang="pt-BR" sz="32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0" lvl="2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sistemas Windows, o caminho absoluto inclui a letra do drive (como C:) seguida pelo caminho completo.</a:t>
            </a:r>
          </a:p>
          <a:p>
            <a:pPr marL="3200400" lvl="3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Exemplo: C:\Users\usuario\Documentos\arquivo.txt2. 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AC8EAED-04C8-8F23-12C2-755ECFB13D69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4C42C201-FC24-86AB-1416-9188291B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6E02F531-6E77-0146-F17C-0C2FBE8C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11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93E1-813C-369F-C13A-56D9533B3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371D75-A02C-BF10-954D-DD3ABAF04F0F}"/>
              </a:ext>
            </a:extLst>
          </p:cNvPr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5CAE02B-A963-A023-17F4-4E07BC026E48}"/>
              </a:ext>
            </a:extLst>
          </p:cNvPr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38D416E0-D5AD-86BC-40CF-D8668A7AF31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Localização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um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arquivo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(Path)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9A7284A2-6056-6F14-F31E-692F344BF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3251914-4B31-8778-FEC3-0DE17FC0183B}"/>
              </a:ext>
            </a:extLst>
          </p:cNvPr>
          <p:cNvSpPr txBox="1"/>
          <p:nvPr/>
        </p:nvSpPr>
        <p:spPr>
          <a:xfrm>
            <a:off x="1006413" y="2171697"/>
            <a:ext cx="21304224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 sistema de arquivos de um sistema operacional, "caminho absoluto" e "caminho relativo" são formas diferentes de se referir à localização de um arquivo ou diretório dentro da estrutura de diretórios do sistema.</a:t>
            </a:r>
          </a:p>
          <a:p>
            <a:pPr marL="457200" indent="-457200" algn="just">
              <a:buFont typeface="Wingdings" panose="05000000000000000000" pitchFamily="2" charset="2"/>
              <a:buChar char="v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Caminho Relativo</a:t>
            </a:r>
          </a:p>
          <a:p>
            <a:pPr marL="457200" indent="-457200" algn="just">
              <a:buFont typeface="Wingdings" panose="05000000000000000000" pitchFamily="2" charset="2"/>
              <a:buChar char="Ø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Um caminho relativo é o caminho que leva ao arquivo ou diretório em relação ao diretório atual em que o usuário ou o programa está. Em outras palavras, ele omite o início do caminho absoluto e o define a partir do diretório de trabalho atual.</a:t>
            </a:r>
          </a:p>
          <a:p>
            <a:pPr marL="1371600" lvl="1" indent="-457200" algn="just">
              <a:buFont typeface="Arial" panose="020B0604020202020204" pitchFamily="34" charset="0"/>
              <a:buChar char="•"/>
              <a:defRPr/>
            </a:pPr>
            <a:endParaRPr lang="pt-BR" sz="32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0" lvl="2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sistemas Unix/Linux e Windows, o caminho relativo pode usar símbolos especiais:</a:t>
            </a:r>
          </a:p>
          <a:p>
            <a:pPr marL="3200400" lvl="3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 (ponto) para indicar o diretório atual.</a:t>
            </a:r>
          </a:p>
          <a:p>
            <a:pPr marL="3200400" lvl="3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.. (ponto </a:t>
            </a:r>
            <a:r>
              <a:rPr lang="pt-BR" sz="3200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ponto</a:t>
            </a: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 para indicar o diretório pai.</a:t>
            </a:r>
          </a:p>
          <a:p>
            <a:pPr marL="2286000" lvl="2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Exemplo: </a:t>
            </a:r>
          </a:p>
          <a:p>
            <a:pPr marL="3200400" lvl="3" indent="-457200" algn="just">
              <a:buFont typeface="Arial" panose="020B0604020202020204" pitchFamily="34" charset="0"/>
              <a:buChar char="•"/>
              <a:defRPr/>
            </a:pP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o diretório atual for /home/</a:t>
            </a:r>
            <a:r>
              <a:rPr lang="pt-BR" sz="3200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usuario</a:t>
            </a:r>
            <a:r>
              <a:rPr lang="pt-BR" sz="32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 caminho relativo para documentos/arquivo.txt pode ser documentos/arquivo.txt ou ./documentos/arquivo.txt.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0EB0719-DEA1-A127-9929-07D7DFA72EFE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210538F7-4DBC-0345-6044-D2166213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F032B410-A1FF-8473-06F1-3C45B4A1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25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Explorer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0202779" y="3379701"/>
            <a:ext cx="13624009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Explorador de Arquivos (Windows Explorer)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i="0" dirty="0">
                <a:solidFill>
                  <a:srgbClr val="0D0D0D"/>
                </a:solidFill>
                <a:effectLst/>
                <a:latin typeface="Futura Bk BT" panose="020B0502020204020303"/>
              </a:rPr>
              <a:t>É uma ferramenta essencial no sistema operacional Windows, utilizada para navegar, gerenciar e organizar arquivos e pastas no seu computador. </a:t>
            </a: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lvl="1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Formas de acessar</a:t>
            </a:r>
          </a:p>
          <a:p>
            <a:pPr marL="6858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2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solidFill>
                  <a:srgbClr val="0D0D0D"/>
                </a:solidFill>
                <a:latin typeface="Futura Bk BT" panose="020B0502020204020303"/>
              </a:rPr>
              <a:t>Tecla Windows + E</a:t>
            </a:r>
          </a:p>
          <a:p>
            <a:pPr marL="1600200" lvl="2" indent="-685800">
              <a:buFont typeface="Wingdings" panose="05000000000000000000" pitchFamily="2" charset="2"/>
              <a:buChar char="§"/>
            </a:pPr>
            <a:endParaRPr lang="pt-BR" sz="3200" b="1" dirty="0">
              <a:solidFill>
                <a:srgbClr val="0D0D0D"/>
              </a:solidFill>
              <a:latin typeface="Futura Bk BT" panose="020B0502020204020303"/>
            </a:endParaRPr>
          </a:p>
          <a:p>
            <a:pPr marL="1600200" lvl="2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solidFill>
                  <a:srgbClr val="0D0D0D"/>
                </a:solidFill>
                <a:latin typeface="Futura Bk BT" panose="020B0502020204020303"/>
              </a:rPr>
              <a:t>Botão Direito no Botão do Windows</a:t>
            </a:r>
          </a:p>
          <a:p>
            <a:pPr marL="1600200" lvl="2" indent="-685800">
              <a:buFont typeface="Wingdings" panose="05000000000000000000" pitchFamily="2" charset="2"/>
              <a:buChar char="§"/>
            </a:pPr>
            <a:endParaRPr lang="pt-BR" sz="3200" b="1" dirty="0">
              <a:solidFill>
                <a:srgbClr val="0D0D0D"/>
              </a:solidFill>
              <a:latin typeface="Futura Bk BT" panose="020B0502020204020303"/>
            </a:endParaRPr>
          </a:p>
          <a:p>
            <a:pPr marL="1600200" lvl="2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solidFill>
                  <a:srgbClr val="0D0D0D"/>
                </a:solidFill>
                <a:latin typeface="Futura Bk BT" panose="020B0502020204020303"/>
              </a:rPr>
              <a:t>Menu Iniciar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4D5646-0DE5-964B-D4EC-88D95ACDE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460" y="2947735"/>
            <a:ext cx="8096250" cy="8020157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5D53C64D-D920-D07D-C2C7-4AB87922123C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3" name="Espaço Reservado para Número de Slide 1">
            <a:extLst>
              <a:ext uri="{FF2B5EF4-FFF2-40B4-BE49-F238E27FC236}">
                <a16:creationId xmlns:a16="http://schemas.microsoft.com/office/drawing/2014/main" id="{AC0F3269-37CD-AA54-F7E6-49E69125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Espaço Reservado para Rodapé 2">
            <a:extLst>
              <a:ext uri="{FF2B5EF4-FFF2-40B4-BE49-F238E27FC236}">
                <a16:creationId xmlns:a16="http://schemas.microsoft.com/office/drawing/2014/main" id="{E2C1C87E-2B6F-E813-C4B7-F7CA61CD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9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Explorer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820271" y="2686146"/>
            <a:ext cx="22665371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Barra de Endereço: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Mostra o caminho completo da pasta em que você está.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Permite navegar rapidamente entre pastas.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Painel de Navegação: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 de pastas e locais frequentemente acessados.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Facilita a navegação entre diferentes unidades e pastas.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Painel de Detalhes: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Exibe informações detalhadas sobre arquivos, como nome, tipo, tamanho e data de modificação.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Possibilidade de classificar os arquivos por diferentes critérios.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Barra de Ferramentas: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Botões para operações comuns, como copiar, colar, excluir, etc.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Opções para mudar o modo de visualização (ícones, lista, detalhes).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D9F932A8-CBB4-B37C-F199-CE47ED0ED26F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3" name="Espaço Reservado para Número de Slide 1">
            <a:extLst>
              <a:ext uri="{FF2B5EF4-FFF2-40B4-BE49-F238E27FC236}">
                <a16:creationId xmlns:a16="http://schemas.microsoft.com/office/drawing/2014/main" id="{0A9884DF-DEB2-62B4-B27A-9CF691A0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Espaço Reservado para Rodapé 2">
            <a:extLst>
              <a:ext uri="{FF2B5EF4-FFF2-40B4-BE49-F238E27FC236}">
                <a16:creationId xmlns:a16="http://schemas.microsoft.com/office/drawing/2014/main" id="{AB8AD008-07AC-C1C3-E8BB-9F024E01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44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Conhecendo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melhor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0202779" y="3379701"/>
            <a:ext cx="1362400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Permissão de Arquivo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Tipos de Permissão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Como restringir acesso?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Como compartilhar arquivo?</a:t>
            </a:r>
          </a:p>
          <a:p>
            <a:pPr lvl="1"/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3454D0-D128-40B7-82ED-57CDC3D4D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893" y="2681829"/>
            <a:ext cx="7160242" cy="9842867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882C487B-8011-2ECF-6ABF-3620E828A867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3A1A4B1A-88FA-CD7A-BF80-BF318A86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4F4540C7-4C50-EE6D-8FB0-2564CC96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58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Linha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Comandos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0202779" y="3379701"/>
            <a:ext cx="13624009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Linha de Comando ou Power Shell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Tecla Windows + “R” e “</a:t>
            </a:r>
            <a:r>
              <a:rPr lang="pt-BR" sz="44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cmd</a:t>
            </a: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Botão Direito no Botão do Windows e Selecionar Power Shell</a:t>
            </a:r>
          </a:p>
          <a:p>
            <a:pPr lvl="1"/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Permite executar qualquer comando ou script no Windows.</a:t>
            </a:r>
          </a:p>
          <a:p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C964A4B-F529-19B2-E6D0-669D87C5A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412" y="3890962"/>
            <a:ext cx="6505575" cy="50196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F779D6B-F45A-CA1E-2039-4AE868941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860" y="7571967"/>
            <a:ext cx="7162800" cy="4305300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9CF1BA5A-C497-4B08-31CE-EB2B6390A961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3" name="Espaço Reservado para Número de Slide 1">
            <a:extLst>
              <a:ext uri="{FF2B5EF4-FFF2-40B4-BE49-F238E27FC236}">
                <a16:creationId xmlns:a16="http://schemas.microsoft.com/office/drawing/2014/main" id="{E3324797-7516-7D7E-9729-A99655C1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Espaço Reservado para Rodapé 2">
            <a:extLst>
              <a:ext uri="{FF2B5EF4-FFF2-40B4-BE49-F238E27FC236}">
                <a16:creationId xmlns:a16="http://schemas.microsoft.com/office/drawing/2014/main" id="{EDD34D87-15BD-9324-3A70-05215FFE1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6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Navegando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pela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Linha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Comando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962367" y="1848103"/>
            <a:ext cx="213042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Navegar em pastas usando a linha de comando é uma habilidade fundamental para usuários de sistemas baseados em Unix (como Linux, 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macOS</a:t>
            </a: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 e também para o Prompt de Comando do Windows</a:t>
            </a: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45B0BBC-FD73-C040-B022-993CA9B76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322064"/>
              </p:ext>
            </p:extLst>
          </p:nvPr>
        </p:nvGraphicFramePr>
        <p:xfrm>
          <a:off x="1688431" y="4063262"/>
          <a:ext cx="21007137" cy="8138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11631">
                  <a:extLst>
                    <a:ext uri="{9D8B030D-6E8A-4147-A177-3AD203B41FA5}">
                      <a16:colId xmlns:a16="http://schemas.microsoft.com/office/drawing/2014/main" val="310135705"/>
                    </a:ext>
                  </a:extLst>
                </a:gridCol>
                <a:gridCol w="17795506">
                  <a:extLst>
                    <a:ext uri="{9D8B030D-6E8A-4147-A177-3AD203B41FA5}">
                      <a16:colId xmlns:a16="http://schemas.microsoft.com/office/drawing/2014/main" val="3069938554"/>
                    </a:ext>
                  </a:extLst>
                </a:gridCol>
              </a:tblGrid>
              <a:tr h="456973">
                <a:tc>
                  <a:txBody>
                    <a:bodyPr/>
                    <a:lstStyle/>
                    <a:p>
                      <a:r>
                        <a:rPr lang="pt-BR" dirty="0"/>
                        <a:t>Comando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02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dir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kern="1200" dirty="0">
                          <a:solidFill>
                            <a:schemeClr val="dk1"/>
                          </a:solidFill>
                          <a:effectLst/>
                        </a:rPr>
                        <a:t>Lista os arquivos e pastas no diretório atual.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66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kern="1200" dirty="0">
                          <a:solidFill>
                            <a:schemeClr val="dk1"/>
                          </a:solidFill>
                          <a:effectLst/>
                        </a:rPr>
                        <a:t>É o comando principal para mudar de diretório. Para mudar para um diretório específico, você usa </a:t>
                      </a:r>
                      <a:r>
                        <a:rPr lang="pt-BR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</a:t>
                      </a:r>
                      <a:r>
                        <a:rPr lang="pt-BR" sz="3600" b="0" kern="1200" dirty="0">
                          <a:solidFill>
                            <a:schemeClr val="dk1"/>
                          </a:solidFill>
                          <a:effectLst/>
                        </a:rPr>
                        <a:t> seguido do caminho do diretório. </a:t>
                      </a:r>
                      <a:endParaRPr lang="pt-BR" sz="3600" b="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3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71500" marR="0" lvl="0" indent="-57150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Caminho Relativo: É em relação ao diretório atual. </a:t>
                      </a:r>
                      <a:r>
                        <a:rPr lang="pt-BR" sz="3600" b="0" kern="1200" dirty="0">
                          <a:solidFill>
                            <a:schemeClr val="dk1"/>
                          </a:solidFill>
                          <a:effectLst/>
                        </a:rPr>
                        <a:t>Exemplo: </a:t>
                      </a:r>
                      <a:r>
                        <a:rPr lang="pt-BR" sz="3600" b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</a:t>
                      </a:r>
                      <a:r>
                        <a:rPr lang="pt-BR" sz="3600" b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3600" b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nome_da_pasta</a:t>
                      </a:r>
                      <a:endParaRPr lang="pt-BR" sz="3600" b="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571500" marR="0" lvl="0" indent="-57150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Caminho Absoluto: É o caminho completo desde o diretório raiz. Exemplo: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pt-BR" sz="3600" b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</a:t>
                      </a:r>
                      <a:r>
                        <a:rPr lang="pt-BR" sz="3600" b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C:\Users\nome_do_usuario\Documentos</a:t>
                      </a:r>
                    </a:p>
                    <a:p>
                      <a:pPr marL="571500" marR="0" lvl="0" indent="-57150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 um nome de pasta contiver espaços, coloque o nome entre aspas: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Exemploe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cd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"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Program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Files“</a:t>
                      </a:r>
                    </a:p>
                    <a:p>
                      <a:pPr marL="571500" marR="0" lvl="0" indent="-57150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Pressionar </a:t>
                      </a:r>
                      <a:r>
                        <a:rPr lang="pt-BR" dirty="0" err="1"/>
                        <a:t>Tab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autocompletar nomes de arquivos e pastas.</a:t>
                      </a:r>
                      <a:endParaRPr lang="pt-BR" sz="3600" b="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041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</a:t>
                      </a:r>
                      <a:r>
                        <a:rPr lang="pt-BR" sz="3600" b="1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..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Volta um nível no diretório. Útil para subir um diretório na hierarquia.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03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</a:t>
                      </a:r>
                      <a:r>
                        <a:rPr lang="pt-BR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Vai para o diretório raiz.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58802"/>
                  </a:ext>
                </a:extLst>
              </a:tr>
            </a:tbl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CA0E58D0-B476-7A7A-C5D8-60C2903CCFF1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E8CB0E58-640F-C233-95B0-AB58FC25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7B4BF1BF-AC0A-F1E7-2C16-2D4F8378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60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Navegando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pela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Linha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Comando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599458" y="1958776"/>
            <a:ext cx="213042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Outros comandos:</a:t>
            </a: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45B0BBC-FD73-C040-B022-993CA9B76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6555"/>
              </p:ext>
            </p:extLst>
          </p:nvPr>
        </p:nvGraphicFramePr>
        <p:xfrm>
          <a:off x="1006413" y="3379797"/>
          <a:ext cx="22575482" cy="8961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51404">
                  <a:extLst>
                    <a:ext uri="{9D8B030D-6E8A-4147-A177-3AD203B41FA5}">
                      <a16:colId xmlns:a16="http://schemas.microsoft.com/office/drawing/2014/main" val="310135705"/>
                    </a:ext>
                  </a:extLst>
                </a:gridCol>
                <a:gridCol w="19124078">
                  <a:extLst>
                    <a:ext uri="{9D8B030D-6E8A-4147-A177-3AD203B41FA5}">
                      <a16:colId xmlns:a16="http://schemas.microsoft.com/office/drawing/2014/main" val="3069938554"/>
                    </a:ext>
                  </a:extLst>
                </a:gridCol>
              </a:tblGrid>
              <a:tr h="456973">
                <a:tc>
                  <a:txBody>
                    <a:bodyPr/>
                    <a:lstStyle/>
                    <a:p>
                      <a:r>
                        <a:rPr lang="pt-BR" dirty="0"/>
                        <a:t>Comando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02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mkdir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Cria um novo diretório (pasta). Exemplo: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nome_do_novo_diretorio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66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rmdir</a:t>
                      </a:r>
                      <a:endParaRPr lang="pt-BR" sz="3600" b="1" i="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(apaga) um diretório. Exemplo: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rmdir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nome_do_diretorio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041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del</a:t>
                      </a:r>
                      <a:endParaRPr lang="pt-BR" sz="3600" b="1" i="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Exclui um ou mais arquivos. Exemplo: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del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nome_do_arquivo.txt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03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copy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Copia um ou mais arquivos para outro local. Exemplo: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copy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arquivo_origem.txt destino\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5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um ou mais arquivos para outro local. Exemplo: 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move arquivo.txt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pasta_destino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\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34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Renomeia um arquivo. Exemplo: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ren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arquivo_antigo.txt arquivo_novo.txt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834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Exibe o conteúdo de um arquivo de texto. Exemplo: </a:t>
                      </a:r>
                      <a:r>
                        <a:rPr lang="pt-BR" sz="3600" b="0" i="0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type</a:t>
                      </a:r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arquivo.txt</a:t>
                      </a:r>
                      <a:endParaRPr lang="pt-BR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3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echo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Exibe uma mensagem na tela ou redireciona para um arquivo.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cls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Limpa a tela do prompt de comando.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433353"/>
                  </a:ext>
                </a:extLst>
              </a:tr>
              <a:tr h="634205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ipconfig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Exibe informações da configuração de rede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79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ping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Verifica a conexão da rede com um host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755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tasklist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Lista os processos em execução no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taskkill</a:t>
                      </a:r>
                      <a:endParaRPr lang="pt-BR" sz="3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Finaliza um processo em execução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875154"/>
                  </a:ext>
                </a:extLst>
              </a:tr>
            </a:tbl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3051031D-6FB5-1D9F-7A0C-D127F588F74B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118A1FCE-B210-79BA-EBD3-B38229A7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A4F82B20-BDD2-D05E-D4B3-05910F1D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58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Ferramentas do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9713187" y="2973675"/>
            <a:ext cx="14379460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Gerenciador de Tarefas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uma ferramenta integrada ao sistema operacional Windows que permite aos usuários visualizar e gerenciar processos, aplicativos, serviços, desempenho do sistema e usuários conectados. É uma ferramenta muito útil para monitorar e controlar o que está acontecendo no seu computador.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marR="0" lvl="0" indent="-6858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Formas de acessar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Tecla de Atalho Ctrl-Shift-</a:t>
            </a:r>
            <a:r>
              <a:rPr lang="pt-BR" sz="32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</a:t>
            </a: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Ctrl-Alt-Del e opção “Gerenciador de Tarefas”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Botão Direito na Barra de Tarefas</a:t>
            </a:r>
          </a:p>
          <a:p>
            <a:pPr lvl="1"/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4BBBDD9-4681-0A12-DF2B-0D8154C63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27" y="2964858"/>
            <a:ext cx="8447407" cy="8819093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411D9FC2-4589-002E-2595-633E21D4E407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4C64B914-8B08-D5EC-598B-5C814C06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AE82A67D-1B2D-2690-A5CA-97239841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34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Ferramentas do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387334" y="2923069"/>
            <a:ext cx="21304224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0" b="1" i="0" dirty="0">
                <a:solidFill>
                  <a:srgbClr val="0D0D0D"/>
                </a:solidFill>
                <a:effectLst/>
                <a:latin typeface="Futura Bk BT" panose="020B0502020204020303"/>
              </a:rPr>
              <a:t>Principais Abas e Funcionalidades do Gerenciador de Tarefas: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Processos: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Mostra uma lista de todos os processos em execução no seu sistema.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Você pode ver o uso de CPU, memória, disco e rede de cada processo.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possível finalizar um processo clicando com o botão direito do mouse e selecionando "Finalizar Tarefa".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Útil para encerrar aplicativos que não estão respondendo.</a:t>
            </a:r>
          </a:p>
          <a:p>
            <a:pPr marL="685800" marR="0" lvl="0" indent="-6858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marR="0" lvl="0" indent="-6858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Desempenho: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Fornece uma visão geral do desempenho do sistema, incluindo uso de CPU, memória, disco e rede.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Gráficos em tempo real permitem visualizar tendências de uso ao longo do tempo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Aplicativos: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 todos os aplicativos que estão em execução.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Você pode ver o status de cada aplicativo, se está em execução ou suspenso.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54EF54-E457-DAAE-21F8-55B36048DB86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8" name="Espaço Reservado para Número de Slide 1">
            <a:extLst>
              <a:ext uri="{FF2B5EF4-FFF2-40B4-BE49-F238E27FC236}">
                <a16:creationId xmlns:a16="http://schemas.microsoft.com/office/drawing/2014/main" id="{4B834EBD-50D4-13A4-5800-A9077BA2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Espaço Reservado para Rodapé 2">
            <a:extLst>
              <a:ext uri="{FF2B5EF4-FFF2-40B4-BE49-F238E27FC236}">
                <a16:creationId xmlns:a16="http://schemas.microsoft.com/office/drawing/2014/main" id="{723BFABD-B3B2-D6AA-9B87-3F6FBA8C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13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Ferramentas do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387334" y="2923069"/>
            <a:ext cx="21304224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0" b="1" i="0" dirty="0">
                <a:solidFill>
                  <a:srgbClr val="0D0D0D"/>
                </a:solidFill>
                <a:effectLst/>
                <a:latin typeface="Futura Bk BT" panose="020B0502020204020303"/>
              </a:rPr>
              <a:t>Principais Abas e Funcionalidades do Gerenciador de Tarefas: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marR="0" lvl="0" indent="-68580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Inicializar: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Mostra uma lista dos programas que são iniciados automaticamente com o Windows.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Você pode habilitar ou desabilitar programas de inicialização para melhorar o tempo de inicialização do sistema.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  <a:defRPr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Usuários: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Exibe informações sobre os usuários que estão conectados ao computador.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Útil para ver quem está logado e desconectar sessões ativas, se necessário.</a:t>
            </a:r>
          </a:p>
          <a:p>
            <a:pPr marL="685800" indent="-685800">
              <a:buFont typeface="Wingdings" panose="05000000000000000000" pitchFamily="2" charset="2"/>
              <a:buChar char="§"/>
              <a:defRPr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  <a:defRPr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Detalhes do Serviço: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 os serviços em execução no sistema.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r>
              <a:rPr lang="pt-BR" sz="32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Permite iniciar, parar, pausar e reiniciar serviços do Windows.</a:t>
            </a:r>
          </a:p>
          <a:p>
            <a:pPr marL="1600200" lvl="1" indent="-685800">
              <a:buFont typeface="Wingdings" panose="05000000000000000000" pitchFamily="2" charset="2"/>
              <a:buChar char="§"/>
              <a:defRPr/>
            </a:pPr>
            <a:endParaRPr lang="pt-BR" sz="32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B9F0089-9C01-473C-C3B7-6C8814B87389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B1431DD4-2D2D-EA8B-BF5D-8E0A4313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C910141A-FEEB-EFAE-AEE1-7AC246E5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1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Painel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Controle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6BEACD-EC6F-FF34-0A33-0BEC5F73D4E7}"/>
              </a:ext>
            </a:extLst>
          </p:cNvPr>
          <p:cNvSpPr txBox="1"/>
          <p:nvPr/>
        </p:nvSpPr>
        <p:spPr>
          <a:xfrm>
            <a:off x="10202779" y="3379701"/>
            <a:ext cx="1362400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Gerenciamento de Dispositivos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Rede e Internet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(Teclado, monitor, mouse)</a:t>
            </a:r>
          </a:p>
          <a:p>
            <a:pPr marL="1600200" lvl="1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00200" lvl="1" indent="-6858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Instalação/Desinstalação de Programas</a:t>
            </a:r>
          </a:p>
          <a:p>
            <a:pPr lvl="1"/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C4D9B0-E79B-CF3D-35C3-97C76DE5B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452" y="3539721"/>
            <a:ext cx="8137636" cy="7501657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27357B2E-A8B6-ECE2-A983-4B66029C5773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3" name="Espaço Reservado para Número de Slide 1">
            <a:extLst>
              <a:ext uri="{FF2B5EF4-FFF2-40B4-BE49-F238E27FC236}">
                <a16:creationId xmlns:a16="http://schemas.microsoft.com/office/drawing/2014/main" id="{473352B0-DEA7-FE30-7F06-0949BC15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B4CFB94F-9302-774A-42C4-8472F151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2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Aplicativos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Windows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473614B-38D3-821D-4694-8AD25F21C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638" y="4385247"/>
            <a:ext cx="10509270" cy="655578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0CAD07E-C811-76E3-82A0-7E13DDA8DAC5}"/>
              </a:ext>
            </a:extLst>
          </p:cNvPr>
          <p:cNvSpPr txBox="1"/>
          <p:nvPr/>
        </p:nvSpPr>
        <p:spPr>
          <a:xfrm>
            <a:off x="12112086" y="3684461"/>
            <a:ext cx="11514833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e seus aplicativos</a:t>
            </a:r>
          </a:p>
          <a:p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pt-BR" sz="44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Tela Inicial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</a:t>
            </a: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Notepad</a:t>
            </a: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</a:t>
            </a: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pt-BR" sz="4400" b="1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pt-BR" sz="4400" b="1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Wordpad</a:t>
            </a:r>
            <a:endParaRPr lang="pt-BR" sz="44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32F2C25-ACD1-1F1C-AF9B-B8E5BA3DC4EA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6D61A78B-BA86-BE97-B887-905C8907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8C15AB5F-0DCF-AB42-94CB-14A93720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8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Atividade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Prática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</a:t>
            </a: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D6DC8E-233E-D405-FCB4-10E5A06A967A}"/>
              </a:ext>
            </a:extLst>
          </p:cNvPr>
          <p:cNvSpPr txBox="1"/>
          <p:nvPr/>
        </p:nvSpPr>
        <p:spPr>
          <a:xfrm>
            <a:off x="1006413" y="2704592"/>
            <a:ext cx="13693799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endParaRPr lang="pt-BR" sz="44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defRPr/>
            </a:pP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Siga as seguintes instruções:</a:t>
            </a:r>
          </a:p>
          <a:p>
            <a:pPr algn="just">
              <a:defRPr/>
            </a:pPr>
            <a:endParaRPr lang="pt-BR" sz="44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28750" lvl="1" indent="-514350" algn="just">
              <a:buFont typeface="+mj-lt"/>
              <a:buAutoNum type="arabicPeriod"/>
              <a:defRPr/>
            </a:pP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Baixe o arquivo aula02.zip da página do professor;</a:t>
            </a:r>
          </a:p>
          <a:p>
            <a:pPr marL="1428750" lvl="1" indent="-514350" algn="just">
              <a:buFont typeface="+mj-lt"/>
              <a:buAutoNum type="arabicPeriod"/>
              <a:defRPr/>
            </a:pP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Descompacte o arquivo baixado;</a:t>
            </a:r>
          </a:p>
          <a:p>
            <a:pPr marL="1428750" lvl="1" indent="-514350" algn="just">
              <a:buFont typeface="+mj-lt"/>
              <a:buAutoNum type="arabicPeriod"/>
              <a:defRPr/>
            </a:pP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Monte a estrutura de pastas conforme figura ao lado:</a:t>
            </a:r>
          </a:p>
          <a:p>
            <a:pPr marL="1428750" lvl="1" indent="-514350" algn="just">
              <a:buFont typeface="+mj-lt"/>
              <a:buAutoNum type="arabicPeriod"/>
              <a:defRPr/>
            </a:pP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Renome os arquivos necessários;</a:t>
            </a:r>
          </a:p>
          <a:p>
            <a:pPr marL="1428750" lvl="1" indent="-514350" algn="just">
              <a:buFont typeface="+mj-lt"/>
              <a:buAutoNum type="arabicPeriod"/>
              <a:defRPr/>
            </a:pP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Abra a página index.html no Navegador;</a:t>
            </a:r>
          </a:p>
          <a:p>
            <a:pPr marL="1428750" lvl="1" indent="-514350" algn="just">
              <a:buFont typeface="+mj-lt"/>
              <a:buAutoNum type="arabicPeriod"/>
              <a:defRPr/>
            </a:pP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Verifique se a página está totalmente funcional;</a:t>
            </a:r>
          </a:p>
          <a:p>
            <a:pPr lvl="1" algn="just">
              <a:defRPr/>
            </a:pPr>
            <a:endParaRPr lang="pt-BR" sz="32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B95A51-19A6-D645-35B5-8A276F77D365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ECBF6C44-185F-D5D8-A79F-413A6440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40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Espaço Reservado para Rodapé 2">
            <a:extLst>
              <a:ext uri="{FF2B5EF4-FFF2-40B4-BE49-F238E27FC236}">
                <a16:creationId xmlns:a16="http://schemas.microsoft.com/office/drawing/2014/main" id="{2EE52CFB-E31B-577E-8167-A434BBA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C4CD9F7-2073-057E-CAA8-49B2EE949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3845" y="4495268"/>
            <a:ext cx="6292336" cy="620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7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Dúvidas?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EEC7F3-07C6-4494-9397-7CFE86310FAA}"/>
              </a:ext>
            </a:extLst>
          </p:cNvPr>
          <p:cNvSpPr txBox="1"/>
          <p:nvPr/>
        </p:nvSpPr>
        <p:spPr>
          <a:xfrm>
            <a:off x="16490449" y="9902442"/>
            <a:ext cx="653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spc="1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ftamberlini.dev.br</a:t>
            </a:r>
          </a:p>
        </p:txBody>
      </p:sp>
      <p:sp>
        <p:nvSpPr>
          <p:cNvPr id="19" name="Oval 23">
            <a:extLst>
              <a:ext uri="{FF2B5EF4-FFF2-40B4-BE49-F238E27FC236}">
                <a16:creationId xmlns:a16="http://schemas.microsoft.com/office/drawing/2014/main" id="{569F469D-9E7B-4CC9-BB42-BFF5A07F398D}"/>
              </a:ext>
            </a:extLst>
          </p:cNvPr>
          <p:cNvSpPr/>
          <p:nvPr/>
        </p:nvSpPr>
        <p:spPr>
          <a:xfrm>
            <a:off x="2558138" y="9738818"/>
            <a:ext cx="1208312" cy="120831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utura Bk BT" panose="020B0502020204020303" pitchFamily="34" charset="0"/>
              </a:rPr>
              <a:t>c</a:t>
            </a: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1CADB059-CB2C-4F03-9DF1-47ACC6C21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159" y="10073740"/>
            <a:ext cx="619616" cy="488403"/>
          </a:xfrm>
          <a:prstGeom prst="rect">
            <a:avLst/>
          </a:prstGeom>
        </p:spPr>
      </p:pic>
      <p:cxnSp>
        <p:nvCxnSpPr>
          <p:cNvPr id="22" name="Straight Connector 19">
            <a:extLst>
              <a:ext uri="{FF2B5EF4-FFF2-40B4-BE49-F238E27FC236}">
                <a16:creationId xmlns:a16="http://schemas.microsoft.com/office/drawing/2014/main" id="{93690DE0-50B8-4BE0-AA64-703AFE5673D4}"/>
              </a:ext>
            </a:extLst>
          </p:cNvPr>
          <p:cNvCxnSpPr/>
          <p:nvPr/>
        </p:nvCxnSpPr>
        <p:spPr>
          <a:xfrm>
            <a:off x="8493383" y="5611040"/>
            <a:ext cx="62000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53">
            <a:extLst>
              <a:ext uri="{FF2B5EF4-FFF2-40B4-BE49-F238E27FC236}">
                <a16:creationId xmlns:a16="http://schemas.microsoft.com/office/drawing/2014/main" id="{974C2307-0890-4583-9336-B28B75533561}"/>
              </a:ext>
            </a:extLst>
          </p:cNvPr>
          <p:cNvSpPr/>
          <p:nvPr/>
        </p:nvSpPr>
        <p:spPr>
          <a:xfrm>
            <a:off x="10619924" y="3168789"/>
            <a:ext cx="1990539" cy="199053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>
                  <a:lumMod val="85000"/>
                  <a:lumOff val="15000"/>
                </a:schemeClr>
              </a:solidFill>
              <a:latin typeface="Futura Bk BT" panose="020B0502020204020303" pitchFamily="34" charset="0"/>
            </a:endParaRPr>
          </a:p>
        </p:txBody>
      </p:sp>
      <p:sp>
        <p:nvSpPr>
          <p:cNvPr id="26" name="TextBox 76">
            <a:extLst>
              <a:ext uri="{FF2B5EF4-FFF2-40B4-BE49-F238E27FC236}">
                <a16:creationId xmlns:a16="http://schemas.microsoft.com/office/drawing/2014/main" id="{98825F93-5DA9-4B52-BB44-5A405A6BE94C}"/>
              </a:ext>
            </a:extLst>
          </p:cNvPr>
          <p:cNvSpPr txBox="1"/>
          <p:nvPr/>
        </p:nvSpPr>
        <p:spPr>
          <a:xfrm>
            <a:off x="6883810" y="5505332"/>
            <a:ext cx="9861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spc="1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Dúvidas?</a:t>
            </a:r>
            <a:endParaRPr lang="en-US" sz="8000" b="1" spc="1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Picture 9">
            <a:extLst>
              <a:ext uri="{FF2B5EF4-FFF2-40B4-BE49-F238E27FC236}">
                <a16:creationId xmlns:a16="http://schemas.microsoft.com/office/drawing/2014/main" id="{73E7AF21-932B-4F00-B35D-BD19C8485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9568" y="3697183"/>
            <a:ext cx="1091250" cy="93375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4C713A6C-2247-4E2D-AB31-4B73F9403364}"/>
              </a:ext>
            </a:extLst>
          </p:cNvPr>
          <p:cNvSpPr txBox="1"/>
          <p:nvPr/>
        </p:nvSpPr>
        <p:spPr>
          <a:xfrm>
            <a:off x="3891007" y="9927475"/>
            <a:ext cx="8719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spc="1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fernando.alves@ifrj.edu.br</a:t>
            </a:r>
          </a:p>
        </p:txBody>
      </p:sp>
      <p:pic>
        <p:nvPicPr>
          <p:cNvPr id="6146" name="Picture 2" descr="Resultado de imagem para icon web">
            <a:extLst>
              <a:ext uri="{FF2B5EF4-FFF2-40B4-BE49-F238E27FC236}">
                <a16:creationId xmlns:a16="http://schemas.microsoft.com/office/drawing/2014/main" id="{A276F8A5-E7E6-47E1-BD62-CB9297095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0681" y="9738818"/>
            <a:ext cx="12287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871BDF2D-29B1-43B6-244D-E985CEB58170}"/>
              </a:ext>
            </a:extLst>
          </p:cNvPr>
          <p:cNvSpPr/>
          <p:nvPr/>
        </p:nvSpPr>
        <p:spPr>
          <a:xfrm>
            <a:off x="-22412" y="12951263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3" name="Espaço Reservado para Número de Slide 1">
            <a:extLst>
              <a:ext uri="{FF2B5EF4-FFF2-40B4-BE49-F238E27FC236}">
                <a16:creationId xmlns:a16="http://schemas.microsoft.com/office/drawing/2014/main" id="{70C9F0DF-63D6-864B-8EDC-54717FAC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957509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41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Espaço Reservado para Rodapé 2">
            <a:extLst>
              <a:ext uri="{FF2B5EF4-FFF2-40B4-BE49-F238E27FC236}">
                <a16:creationId xmlns:a16="http://schemas.microsoft.com/office/drawing/2014/main" id="{2B114777-9EBF-A54B-52CE-F211F485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957509"/>
            <a:ext cx="23801294" cy="730250"/>
          </a:xfrm>
        </p:spPr>
        <p:txBody>
          <a:bodyPr/>
          <a:lstStyle/>
          <a:p>
            <a:r>
              <a:rPr lang="pt-BR" sz="280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02 – Ambiente &amp; SO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01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16175</TotalTime>
  <Words>5441</Words>
  <Application>Microsoft Office PowerPoint</Application>
  <PresentationFormat>Personalizar</PresentationFormat>
  <Paragraphs>652</Paragraphs>
  <Slides>41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51" baseType="lpstr">
      <vt:lpstr>Arial</vt:lpstr>
      <vt:lpstr>Arial Black</vt:lpstr>
      <vt:lpstr>Calibri</vt:lpstr>
      <vt:lpstr>Calibri Light</vt:lpstr>
      <vt:lpstr>Courier New</vt:lpstr>
      <vt:lpstr>Futura Bk BT</vt:lpstr>
      <vt:lpstr>IBM Plex Mono</vt:lpstr>
      <vt:lpstr>IBM Plex Sans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Fernando Tamberlini Alves</cp:lastModifiedBy>
  <cp:revision>506</cp:revision>
  <cp:lastPrinted>2022-06-11T19:51:40Z</cp:lastPrinted>
  <dcterms:created xsi:type="dcterms:W3CDTF">2014-09-26T10:57:37Z</dcterms:created>
  <dcterms:modified xsi:type="dcterms:W3CDTF">2026-09-30T02:56:36Z</dcterms:modified>
</cp:coreProperties>
</file>